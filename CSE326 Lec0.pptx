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5"/>
  </p:notesMasterIdLst>
  <p:sldIdLst>
    <p:sldId id="256" r:id="rId2"/>
    <p:sldId id="257" r:id="rId3"/>
    <p:sldId id="278" r:id="rId4"/>
    <p:sldId id="277" r:id="rId5"/>
    <p:sldId id="258" r:id="rId6"/>
    <p:sldId id="276" r:id="rId7"/>
    <p:sldId id="259" r:id="rId8"/>
    <p:sldId id="260" r:id="rId9"/>
    <p:sldId id="261" r:id="rId10"/>
    <p:sldId id="262" r:id="rId11"/>
    <p:sldId id="267" r:id="rId12"/>
    <p:sldId id="263" r:id="rId13"/>
    <p:sldId id="264" r:id="rId14"/>
    <p:sldId id="265" r:id="rId15"/>
    <p:sldId id="266" r:id="rId16"/>
    <p:sldId id="268" r:id="rId17"/>
    <p:sldId id="269" r:id="rId18"/>
    <p:sldId id="270" r:id="rId19"/>
    <p:sldId id="271" r:id="rId20"/>
    <p:sldId id="272" r:id="rId21"/>
    <p:sldId id="273" r:id="rId22"/>
    <p:sldId id="275" r:id="rId23"/>
    <p:sldId id="27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28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4B997-7476-4EC8-BD6D-F6D133459055}" type="datetimeFigureOut">
              <a:rPr lang="en-IN" smtClean="0"/>
              <a:pPr/>
              <a:t>21-08-2023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00AF00-BDC2-4E22-9AB6-6FDA0E6DEF9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24656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B5A0-437F-4D4F-9F63-0DE12B4707BA}" type="datetime1">
              <a:rPr lang="en-IN" smtClean="0"/>
              <a:pPr/>
              <a:t>21-08-2023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4AB0C-8A4F-4A9E-B7F7-58515A6440E7}" type="datetime1">
              <a:rPr lang="en-IN" smtClean="0"/>
              <a:pPr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0D22-8420-4AF0-8722-2855801E82FB}" type="datetime1">
              <a:rPr lang="en-IN" smtClean="0"/>
              <a:pPr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2F9F-5CFA-4EBA-BA27-C5E2A62FDF1A}" type="datetime1">
              <a:rPr lang="en-IN" smtClean="0"/>
              <a:pPr/>
              <a:t>21-08-2023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5814D-220D-40D4-AB32-274CBB40604A}" type="datetime1">
              <a:rPr lang="en-IN" smtClean="0"/>
              <a:pPr/>
              <a:t>21-08-2023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DACF4-6E2D-427B-9257-A5B396BB2F5D}" type="datetime1">
              <a:rPr lang="en-IN" smtClean="0"/>
              <a:pPr/>
              <a:t>21-08-2023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A0489-FB30-448B-B752-C7F233B89F76}" type="datetime1">
              <a:rPr lang="en-IN" smtClean="0"/>
              <a:pPr/>
              <a:t>21-08-2023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66C54-2EFD-437D-A71C-B4A779E37E51}" type="datetime1">
              <a:rPr lang="en-IN" smtClean="0"/>
              <a:pPr/>
              <a:t>21-08-2023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2386-994B-4EFF-A8B5-30B85EDF6DD6}" type="datetime1">
              <a:rPr lang="en-IN" smtClean="0"/>
              <a:pPr/>
              <a:t>21-08-2023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A0317-7514-470C-8859-FEAB78AFA84E}" type="datetime1">
              <a:rPr lang="en-IN" smtClean="0"/>
              <a:pPr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E0D0C-0542-4575-9C53-121116BF1562}" type="datetime1">
              <a:rPr lang="en-IN" smtClean="0"/>
              <a:pPr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785CAE0E-7D63-43E1-ACB7-595E8AE1D856}" type="datetime1">
              <a:rPr lang="en-IN" smtClean="0"/>
              <a:pPr/>
              <a:t>21-08-2023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066A04F-D713-4288-A8B9-BA887330B92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IN" smtClean="0"/>
              <a:t>Dr. Navneet Kaur, Lovely Professional University</a:t>
            </a:r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html/" TargetMode="External"/><Relationship Id="rId2" Type="http://schemas.openxmlformats.org/officeDocument/2006/relationships/hyperlink" Target="https://www.freecodecamp.org/learn/2022/responsive-web-desig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css/" TargetMode="External"/><Relationship Id="rId4" Type="http://schemas.openxmlformats.org/officeDocument/2006/relationships/hyperlink" Target="https://www.w3schools.com/tags/default.asp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182880"/>
            <a:r>
              <a:rPr lang="en-US" dirty="0" smtClean="0"/>
              <a:t>CSE326 </a:t>
            </a:r>
            <a:br>
              <a:rPr lang="en-US" dirty="0" smtClean="0"/>
            </a:br>
            <a:r>
              <a:rPr lang="en-US" sz="3600" dirty="0"/>
              <a:t>Internet Programming </a:t>
            </a:r>
            <a:r>
              <a:rPr lang="en-US" sz="3600" dirty="0" smtClean="0"/>
              <a:t>Laboratory</a:t>
            </a:r>
            <a:endParaRPr lang="en-IN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</a:t>
            </a:r>
            <a:r>
              <a:rPr lang="en-US" dirty="0" err="1" smtClean="0"/>
              <a:t>Navneet</a:t>
            </a:r>
            <a:r>
              <a:rPr lang="en-US" dirty="0" smtClean="0"/>
              <a:t> </a:t>
            </a:r>
            <a:r>
              <a:rPr lang="en-US" dirty="0" err="1" smtClean="0"/>
              <a:t>Kaur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3313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 smtClean="0"/>
              <a:t>Intructions for the students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students will be shared the reading material and video content weekly.</a:t>
            </a:r>
          </a:p>
          <a:p>
            <a:pPr algn="just"/>
            <a:r>
              <a:rPr lang="en-US" dirty="0" smtClean="0"/>
              <a:t>Before coming to the class, the student must go through the shared content.</a:t>
            </a:r>
          </a:p>
          <a:p>
            <a:pPr algn="just"/>
            <a:r>
              <a:rPr lang="en-US" dirty="0" smtClean="0"/>
              <a:t>The students can clarify their doubts in the class.</a:t>
            </a:r>
          </a:p>
          <a:p>
            <a:pPr algn="just"/>
            <a:r>
              <a:rPr lang="en-US" dirty="0" smtClean="0"/>
              <a:t>The students are required to create account on </a:t>
            </a:r>
            <a:r>
              <a:rPr lang="en-US" dirty="0" err="1" smtClean="0"/>
              <a:t>freecodecamp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The students will be assigned the tasks weekly from freecodecamp.org and doubts regarding the same will be clarified by the faculties in the class.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Navneet</a:t>
            </a:r>
            <a:r>
              <a:rPr lang="en-IN" dirty="0" smtClean="0"/>
              <a:t> </a:t>
            </a:r>
            <a:r>
              <a:rPr lang="en-IN" dirty="0" err="1" smtClean="0"/>
              <a:t>Kaur</a:t>
            </a:r>
            <a:r>
              <a:rPr lang="en-IN" dirty="0" smtClean="0"/>
              <a:t>, Lovely Professional University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9291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 smtClean="0"/>
              <a:t>Intructions for the faculties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faculties must create account on freecodecamp.org</a:t>
            </a:r>
          </a:p>
          <a:p>
            <a:pPr algn="just"/>
            <a:r>
              <a:rPr lang="en-US" dirty="0" smtClean="0"/>
              <a:t>The faculties should also refer to the shared content.</a:t>
            </a:r>
          </a:p>
          <a:p>
            <a:pPr algn="just"/>
            <a:r>
              <a:rPr lang="en-US" dirty="0" smtClean="0"/>
              <a:t>The faculties must share the content will the students on </a:t>
            </a:r>
            <a:r>
              <a:rPr lang="en-US" dirty="0" err="1" smtClean="0"/>
              <a:t>lpulive</a:t>
            </a:r>
            <a:r>
              <a:rPr lang="en-US" dirty="0" smtClean="0"/>
              <a:t>/ums.</a:t>
            </a:r>
          </a:p>
          <a:p>
            <a:pPr algn="just"/>
            <a:r>
              <a:rPr lang="en-US" dirty="0" smtClean="0"/>
              <a:t>The faculties must summarize the shared content in the first half of the lecture and second half  can be utilized for doubt clearing.</a:t>
            </a:r>
          </a:p>
          <a:p>
            <a:pPr algn="just"/>
            <a:r>
              <a:rPr lang="en-US" dirty="0" smtClean="0"/>
              <a:t>After 2 weeks, the content will be enabled on </a:t>
            </a:r>
            <a:r>
              <a:rPr lang="en-US" dirty="0" err="1" smtClean="0"/>
              <a:t>codetantra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Navneet</a:t>
            </a:r>
            <a:r>
              <a:rPr lang="en-IN" dirty="0" smtClean="0"/>
              <a:t> </a:t>
            </a:r>
            <a:r>
              <a:rPr lang="en-IN" dirty="0" err="1" smtClean="0"/>
              <a:t>Kaur</a:t>
            </a:r>
            <a:r>
              <a:rPr lang="en-IN" dirty="0" smtClean="0"/>
              <a:t>, Lovely Professional University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582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Assessment Scheme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ATT – 5</a:t>
            </a:r>
          </a:p>
          <a:p>
            <a:r>
              <a:rPr lang="en-US" dirty="0" smtClean="0"/>
              <a:t>MTT – 20</a:t>
            </a:r>
          </a:p>
          <a:p>
            <a:r>
              <a:rPr lang="en-US" dirty="0" smtClean="0"/>
              <a:t>CAP – 25</a:t>
            </a:r>
          </a:p>
          <a:p>
            <a:r>
              <a:rPr lang="en-US" dirty="0" smtClean="0"/>
              <a:t>ETE – 50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Navneet</a:t>
            </a:r>
            <a:r>
              <a:rPr lang="en-IN" dirty="0" smtClean="0"/>
              <a:t> </a:t>
            </a:r>
            <a:r>
              <a:rPr lang="en-IN" dirty="0" err="1" smtClean="0"/>
              <a:t>Kaur</a:t>
            </a:r>
            <a:r>
              <a:rPr lang="en-IN" dirty="0" smtClean="0"/>
              <a:t>, Lovely Professional University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5085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b="1" dirty="0" smtClean="0"/>
              <a:t>Continuous Assessment Practicals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 1 (MCQ based test) – 30 (HTML and CSS)</a:t>
            </a:r>
          </a:p>
          <a:p>
            <a:r>
              <a:rPr lang="en-US" dirty="0" smtClean="0"/>
              <a:t>CA 2 (Code based test) – 30 (JavaScript)</a:t>
            </a:r>
          </a:p>
          <a:p>
            <a:r>
              <a:rPr lang="en-US" dirty="0" smtClean="0"/>
              <a:t>CA 3 (Project – Group(size - 3)) – 30 (HTML, CSS and JavaScript)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Navneet</a:t>
            </a:r>
            <a:r>
              <a:rPr lang="en-IN" dirty="0" smtClean="0"/>
              <a:t> </a:t>
            </a:r>
            <a:r>
              <a:rPr lang="en-IN" dirty="0" err="1" smtClean="0"/>
              <a:t>Kaur</a:t>
            </a:r>
            <a:r>
              <a:rPr lang="en-IN" dirty="0" smtClean="0"/>
              <a:t>, Lovely Professional University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3427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b="1" dirty="0" smtClean="0"/>
              <a:t>Basic components of course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HTML</a:t>
            </a:r>
          </a:p>
          <a:p>
            <a:r>
              <a:rPr lang="en-US" dirty="0" smtClean="0"/>
              <a:t>CSS</a:t>
            </a:r>
          </a:p>
          <a:p>
            <a:r>
              <a:rPr lang="en-US" dirty="0" smtClean="0"/>
              <a:t>JavaScript</a:t>
            </a: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Navneet</a:t>
            </a:r>
            <a:r>
              <a:rPr lang="en-IN" dirty="0" smtClean="0"/>
              <a:t> </a:t>
            </a:r>
            <a:r>
              <a:rPr lang="en-IN" dirty="0" err="1" smtClean="0"/>
              <a:t>Kaur</a:t>
            </a:r>
            <a:r>
              <a:rPr lang="en-IN" dirty="0" smtClean="0"/>
              <a:t>, Lovely Professional University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81208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 smtClean="0"/>
              <a:t>Course outcomes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CO1 :: identify HTML document structure, work with basic elements, and utilize different types </a:t>
            </a:r>
            <a:r>
              <a:rPr lang="en-US" dirty="0" smtClean="0"/>
              <a:t>of tags </a:t>
            </a:r>
            <a:r>
              <a:rPr lang="en-US" dirty="0"/>
              <a:t>to create well-structured web pages.</a:t>
            </a:r>
          </a:p>
          <a:p>
            <a:pPr algn="just"/>
            <a:r>
              <a:rPr lang="en-US" dirty="0"/>
              <a:t>CO2 :: apply text, create links, embed multimedia, and work with images to enhance the </a:t>
            </a:r>
            <a:r>
              <a:rPr lang="en-US" dirty="0" smtClean="0"/>
              <a:t>visual and </a:t>
            </a:r>
            <a:r>
              <a:rPr lang="en-US" dirty="0"/>
              <a:t>interactive aspects of web pages.</a:t>
            </a:r>
          </a:p>
          <a:p>
            <a:pPr algn="just"/>
            <a:r>
              <a:rPr lang="en-US" dirty="0"/>
              <a:t>CO3 :: cultivate CSS selectors, properties, and the box model on different HTML elements </a:t>
            </a:r>
            <a:r>
              <a:rPr lang="en-US" dirty="0" smtClean="0"/>
              <a:t>to effectively </a:t>
            </a:r>
            <a:r>
              <a:rPr lang="en-US" dirty="0"/>
              <a:t>construct a web </a:t>
            </a:r>
            <a:r>
              <a:rPr lang="en-US" dirty="0" smtClean="0"/>
              <a:t>page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Navneet</a:t>
            </a:r>
            <a:r>
              <a:rPr lang="en-IN" dirty="0" smtClean="0"/>
              <a:t> </a:t>
            </a:r>
            <a:r>
              <a:rPr lang="en-IN" dirty="0" err="1" smtClean="0"/>
              <a:t>Kaur</a:t>
            </a:r>
            <a:r>
              <a:rPr lang="en-IN" dirty="0" smtClean="0"/>
              <a:t>, Lovely Professional University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2962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 smtClean="0"/>
              <a:t>Course outcomes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CO4 :: construct and style tables, implement form controls, and apply CSS to enhance the layout and functionality of web forms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CO5 :: develop interactive web applications by incorporating JavaScript code for </a:t>
            </a:r>
            <a:r>
              <a:rPr lang="en-US" dirty="0" smtClean="0"/>
              <a:t>variable manipulation</a:t>
            </a:r>
            <a:r>
              <a:rPr lang="en-US" dirty="0"/>
              <a:t>, control statements, looping, popup boxes, object manipulation, and </a:t>
            </a:r>
            <a:r>
              <a:rPr lang="en-US" dirty="0" smtClean="0"/>
              <a:t>form </a:t>
            </a:r>
            <a:r>
              <a:rPr lang="en-IN" dirty="0" smtClean="0"/>
              <a:t>validation</a:t>
            </a:r>
            <a:r>
              <a:rPr lang="en-IN" dirty="0"/>
              <a:t>.</a:t>
            </a:r>
          </a:p>
          <a:p>
            <a:pPr algn="just"/>
            <a:r>
              <a:rPr lang="en-US" dirty="0"/>
              <a:t>CO6 :: manipulate and interact with web page elements dynamically using JavaScript </a:t>
            </a:r>
            <a:r>
              <a:rPr lang="en-US" dirty="0" smtClean="0"/>
              <a:t>DOM </a:t>
            </a:r>
            <a:r>
              <a:rPr lang="en-IN" dirty="0" smtClean="0"/>
              <a:t>methods </a:t>
            </a:r>
            <a:r>
              <a:rPr lang="en-IN" dirty="0"/>
              <a:t>and properties.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Navneet</a:t>
            </a:r>
            <a:r>
              <a:rPr lang="en-IN" dirty="0" smtClean="0"/>
              <a:t> </a:t>
            </a:r>
            <a:r>
              <a:rPr lang="en-IN" dirty="0" err="1" smtClean="0"/>
              <a:t>Kaur</a:t>
            </a:r>
            <a:r>
              <a:rPr lang="en-IN" dirty="0" smtClean="0"/>
              <a:t>, Lovely Professional University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9127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08920"/>
            <a:ext cx="7315200" cy="1154097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/>
              <a:t>Course contents</a:t>
            </a:r>
            <a:endParaRPr lang="en-IN" sz="5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Navneet</a:t>
            </a:r>
            <a:r>
              <a:rPr lang="en-IN" dirty="0" smtClean="0"/>
              <a:t> </a:t>
            </a:r>
            <a:r>
              <a:rPr lang="en-IN" dirty="0" err="1" smtClean="0"/>
              <a:t>Kaur</a:t>
            </a:r>
            <a:r>
              <a:rPr lang="en-IN" dirty="0" smtClean="0"/>
              <a:t>, Lovely Professional University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6906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/>
              <a:t>Unit I </a:t>
            </a:r>
            <a:r>
              <a:rPr lang="en-US" b="1" dirty="0"/>
              <a:t>(Exposure To HTML</a:t>
            </a:r>
            <a:r>
              <a:rPr lang="en-US" b="1" dirty="0" smtClean="0"/>
              <a:t>)</a:t>
            </a:r>
          </a:p>
          <a:p>
            <a:pPr algn="just"/>
            <a:r>
              <a:rPr lang="en-US" b="1" dirty="0" smtClean="0"/>
              <a:t>Unit II (</a:t>
            </a:r>
            <a:r>
              <a:rPr lang="en-US" b="1" dirty="0"/>
              <a:t>Working with Text, Links, Images and Tables in </a:t>
            </a:r>
            <a:r>
              <a:rPr lang="en-US" b="1" dirty="0" smtClean="0"/>
              <a:t>HTML)</a:t>
            </a:r>
          </a:p>
          <a:p>
            <a:pPr algn="just"/>
            <a:r>
              <a:rPr lang="en-US" b="1" dirty="0" smtClean="0"/>
              <a:t>Unit III (</a:t>
            </a:r>
            <a:r>
              <a:rPr lang="en-IN" b="1" dirty="0"/>
              <a:t>Cascading Style Sheets</a:t>
            </a:r>
            <a:r>
              <a:rPr lang="en-US" b="1" dirty="0" smtClean="0"/>
              <a:t>)</a:t>
            </a:r>
          </a:p>
          <a:p>
            <a:pPr algn="just"/>
            <a:r>
              <a:rPr lang="en-US" b="1" dirty="0" smtClean="0"/>
              <a:t>Unit IV (</a:t>
            </a:r>
            <a:r>
              <a:rPr lang="en-IN" b="1" dirty="0"/>
              <a:t>Working with Tables, Working with </a:t>
            </a:r>
            <a:r>
              <a:rPr lang="en-IN" b="1" dirty="0" smtClean="0"/>
              <a:t>Forms, </a:t>
            </a:r>
            <a:r>
              <a:rPr lang="en-US" b="1" dirty="0"/>
              <a:t>CSS Grids and Webpage Layouts)</a:t>
            </a:r>
            <a:endParaRPr lang="en-US" b="1" dirty="0" smtClean="0"/>
          </a:p>
          <a:p>
            <a:pPr algn="just"/>
            <a:r>
              <a:rPr lang="en-US" b="1" dirty="0" smtClean="0"/>
              <a:t>Unit V (</a:t>
            </a:r>
            <a:r>
              <a:rPr lang="en-IN" b="1" dirty="0"/>
              <a:t>JavaScript Application </a:t>
            </a:r>
            <a:r>
              <a:rPr lang="en-IN" b="1" dirty="0" smtClean="0"/>
              <a:t>Development</a:t>
            </a:r>
            <a:r>
              <a:rPr lang="en-IN" b="1" dirty="0"/>
              <a:t>, JavaScript </a:t>
            </a:r>
            <a:r>
              <a:rPr lang="en-IN" b="1" dirty="0" err="1"/>
              <a:t>Functions,Events</a:t>
            </a:r>
            <a:r>
              <a:rPr lang="en-IN" b="1" dirty="0"/>
              <a:t> and Validation</a:t>
            </a:r>
            <a:r>
              <a:rPr lang="en-US" b="1" dirty="0" smtClean="0"/>
              <a:t>)</a:t>
            </a:r>
          </a:p>
          <a:p>
            <a:pPr algn="just"/>
            <a:r>
              <a:rPr lang="en-US" b="1" dirty="0" smtClean="0"/>
              <a:t>Unit VI (</a:t>
            </a:r>
            <a:r>
              <a:rPr lang="en-IN" b="1" dirty="0" err="1"/>
              <a:t>Javascript</a:t>
            </a:r>
            <a:r>
              <a:rPr lang="en-IN" b="1" dirty="0"/>
              <a:t> DOM</a:t>
            </a:r>
            <a:r>
              <a:rPr lang="en-US" b="1" dirty="0" smtClean="0"/>
              <a:t>)</a:t>
            </a:r>
            <a:endParaRPr lang="en-IN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9413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Unit </a:t>
            </a:r>
            <a:r>
              <a:rPr lang="en-IN" b="1" dirty="0" smtClean="0"/>
              <a:t>I (</a:t>
            </a:r>
            <a:r>
              <a:rPr lang="en-IN" b="1" dirty="0"/>
              <a:t>Exposure To HTML</a:t>
            </a:r>
            <a:r>
              <a:rPr lang="en-IN" b="1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HTML Document Structure</a:t>
            </a:r>
          </a:p>
          <a:p>
            <a:pPr algn="just"/>
            <a:r>
              <a:rPr lang="en-US" dirty="0"/>
              <a:t>Working with HTML Basic </a:t>
            </a:r>
            <a:r>
              <a:rPr lang="en-US" dirty="0" smtClean="0"/>
              <a:t>Elements: Title, Head, Body</a:t>
            </a:r>
            <a:endParaRPr lang="en-US" dirty="0"/>
          </a:p>
          <a:p>
            <a:pPr algn="just"/>
            <a:r>
              <a:rPr lang="en-US" dirty="0"/>
              <a:t>Working with Root and Metadata</a:t>
            </a:r>
          </a:p>
          <a:p>
            <a:pPr algn="just"/>
            <a:r>
              <a:rPr lang="en-US" dirty="0"/>
              <a:t>Horizontal Rules and Line </a:t>
            </a:r>
            <a:r>
              <a:rPr lang="en-US" dirty="0" smtClean="0"/>
              <a:t>Breaks</a:t>
            </a:r>
            <a:endParaRPr lang="en-US" dirty="0"/>
          </a:p>
          <a:p>
            <a:pPr algn="just"/>
            <a:r>
              <a:rPr lang="en-US" dirty="0" smtClean="0"/>
              <a:t>Paragraphs</a:t>
            </a:r>
            <a:endParaRPr lang="en-US" dirty="0"/>
          </a:p>
          <a:p>
            <a:pPr algn="just"/>
            <a:r>
              <a:rPr lang="en-US" dirty="0"/>
              <a:t>Working with Citation, Quotation, Definitions, and Comments</a:t>
            </a:r>
          </a:p>
          <a:p>
            <a:pPr algn="just"/>
            <a:r>
              <a:rPr lang="en-US" dirty="0"/>
              <a:t>Types of Tags in HTML</a:t>
            </a:r>
          </a:p>
          <a:p>
            <a:pPr algn="just"/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9254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Unit </a:t>
            </a:r>
            <a:r>
              <a:rPr lang="en-IN" b="1" dirty="0" smtClean="0"/>
              <a:t>II (</a:t>
            </a:r>
            <a:r>
              <a:rPr lang="en-US" b="1" dirty="0"/>
              <a:t>Working with Text, Links, Images and Tables in HTML</a:t>
            </a:r>
            <a:r>
              <a:rPr lang="en-IN" b="1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Formatting Text with HTML Physical Style Elements</a:t>
            </a:r>
          </a:p>
          <a:p>
            <a:pPr algn="just"/>
            <a:r>
              <a:rPr lang="en-US" dirty="0"/>
              <a:t>Formatting Text with HTML Logical Style Elements</a:t>
            </a:r>
          </a:p>
          <a:p>
            <a:pPr algn="just"/>
            <a:r>
              <a:rPr lang="en-US" dirty="0"/>
              <a:t>Arranging Text</a:t>
            </a:r>
          </a:p>
          <a:p>
            <a:pPr algn="just"/>
            <a:r>
              <a:rPr lang="en-US" dirty="0"/>
              <a:t>Exploring Hyperlinks and Linking to a Mail System</a:t>
            </a:r>
          </a:p>
          <a:p>
            <a:pPr algn="just"/>
            <a:r>
              <a:rPr lang="en-US" dirty="0"/>
              <a:t>Exploring Link Relations</a:t>
            </a:r>
          </a:p>
          <a:p>
            <a:pPr algn="just"/>
            <a:r>
              <a:rPr lang="en-US" dirty="0"/>
              <a:t>Working with Images in a Web </a:t>
            </a:r>
            <a:r>
              <a:rPr lang="en-US" dirty="0" smtClean="0"/>
              <a:t>Page</a:t>
            </a:r>
          </a:p>
          <a:p>
            <a:pPr algn="just"/>
            <a:r>
              <a:rPr lang="en-US" dirty="0"/>
              <a:t>Displaying</a:t>
            </a:r>
            <a:r>
              <a:rPr lang="en-US" dirty="0" smtClean="0"/>
              <a:t>: Plain Text Bold Text, Italic Text, Small Text, Subscripted Text, Superscripted </a:t>
            </a:r>
            <a:r>
              <a:rPr lang="en-US" dirty="0"/>
              <a:t>Text</a:t>
            </a:r>
          </a:p>
          <a:p>
            <a:r>
              <a:rPr lang="en-US" dirty="0"/>
              <a:t>Displaying Program Code</a:t>
            </a:r>
          </a:p>
          <a:p>
            <a:r>
              <a:rPr lang="en-US" dirty="0"/>
              <a:t>Displaying Program Output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01675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Unit </a:t>
            </a:r>
            <a:r>
              <a:rPr lang="en-IN" b="1" dirty="0" smtClean="0"/>
              <a:t>II (</a:t>
            </a:r>
            <a:r>
              <a:rPr lang="en-US" b="1" dirty="0"/>
              <a:t>Working with Text, Links, Images and Tables in HTML</a:t>
            </a:r>
            <a:r>
              <a:rPr lang="en-IN" b="1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Displaying Keyboard Text</a:t>
            </a:r>
          </a:p>
          <a:p>
            <a:r>
              <a:rPr lang="en-US" dirty="0"/>
              <a:t>Emphasizing Text</a:t>
            </a:r>
          </a:p>
          <a:p>
            <a:r>
              <a:rPr lang="en-US" dirty="0"/>
              <a:t>Defining New Terms</a:t>
            </a:r>
          </a:p>
          <a:p>
            <a:r>
              <a:rPr lang="en-US" dirty="0"/>
              <a:t>Short and Long Quotations</a:t>
            </a:r>
          </a:p>
          <a:p>
            <a:r>
              <a:rPr lang="en-US" dirty="0"/>
              <a:t>Creating Links with the Anchor Tag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724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b="1" dirty="0"/>
              <a:t>Unit </a:t>
            </a:r>
            <a:r>
              <a:rPr lang="en-IN" b="1" dirty="0" smtClean="0"/>
              <a:t>III (</a:t>
            </a:r>
            <a:r>
              <a:rPr lang="en-IN" b="1" dirty="0"/>
              <a:t>Cascading Style Sheets</a:t>
            </a:r>
            <a:r>
              <a:rPr lang="en-IN" b="1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CSS Rules</a:t>
            </a:r>
            <a:r>
              <a:rPr lang="en-US" dirty="0" smtClean="0"/>
              <a:t>: Link Rule and Style Rule</a:t>
            </a:r>
          </a:p>
          <a:p>
            <a:r>
              <a:rPr lang="en-IN" dirty="0"/>
              <a:t>Types of </a:t>
            </a:r>
            <a:r>
              <a:rPr lang="en-IN" dirty="0" smtClean="0"/>
              <a:t>CSS</a:t>
            </a:r>
          </a:p>
          <a:p>
            <a:r>
              <a:rPr lang="en-US" dirty="0"/>
              <a:t>CSS </a:t>
            </a:r>
            <a:r>
              <a:rPr lang="en-US" dirty="0" smtClean="0"/>
              <a:t>Properties: Text Controlling and Text </a:t>
            </a:r>
            <a:r>
              <a:rPr lang="en-US" dirty="0"/>
              <a:t>Formatting</a:t>
            </a:r>
          </a:p>
          <a:p>
            <a:r>
              <a:rPr lang="en-US" dirty="0"/>
              <a:t>CSS </a:t>
            </a:r>
            <a:r>
              <a:rPr lang="en-US" dirty="0" smtClean="0"/>
              <a:t>Selectors: Type Selector, ID Selector Class Selector</a:t>
            </a:r>
          </a:p>
          <a:p>
            <a:r>
              <a:rPr lang="en-US" dirty="0"/>
              <a:t>Introduction to CSS and Types of CSS</a:t>
            </a:r>
          </a:p>
          <a:p>
            <a:r>
              <a:rPr lang="en-US" dirty="0" smtClean="0"/>
              <a:t>Introduction to CSS</a:t>
            </a:r>
          </a:p>
          <a:p>
            <a:r>
              <a:rPr lang="en-US" dirty="0" smtClean="0"/>
              <a:t>Types of CSS: Inline CSS, Internal CSS, External CSS</a:t>
            </a:r>
          </a:p>
          <a:p>
            <a:r>
              <a:rPr lang="en-IN" dirty="0" smtClean="0"/>
              <a:t>CSS </a:t>
            </a:r>
            <a:r>
              <a:rPr lang="en-IN" dirty="0"/>
              <a:t>Box </a:t>
            </a:r>
            <a:r>
              <a:rPr lang="en-IN" dirty="0" smtClean="0"/>
              <a:t>Model: Padding, Margin, Border</a:t>
            </a:r>
          </a:p>
          <a:p>
            <a:r>
              <a:rPr lang="en-US" dirty="0"/>
              <a:t>&lt;div&gt; and &lt;span&gt; Tags in CSS</a:t>
            </a:r>
          </a:p>
          <a:p>
            <a:r>
              <a:rPr lang="en-US" dirty="0"/>
              <a:t>Working with Background Images</a:t>
            </a:r>
          </a:p>
          <a:p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/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98746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544715"/>
            <a:ext cx="8964488" cy="1154097"/>
          </a:xfrm>
        </p:spPr>
        <p:txBody>
          <a:bodyPr>
            <a:noAutofit/>
          </a:bodyPr>
          <a:lstStyle/>
          <a:p>
            <a:r>
              <a:rPr lang="en-IN" sz="3200" b="1" dirty="0" smtClean="0"/>
              <a:t>Unit IV(Working with Tables, Working with Forms, </a:t>
            </a:r>
            <a:r>
              <a:rPr lang="en-US" sz="3200" b="1" dirty="0" smtClean="0"/>
              <a:t>CSS Grids and Webpage Layouts</a:t>
            </a:r>
            <a:r>
              <a:rPr lang="en-IN" sz="3200" b="1" dirty="0" smtClean="0"/>
              <a:t>)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Working With </a:t>
            </a:r>
            <a:r>
              <a:rPr lang="en-US" dirty="0" smtClean="0"/>
              <a:t>Tables: </a:t>
            </a:r>
            <a:r>
              <a:rPr lang="en-US" dirty="0" err="1" smtClean="0"/>
              <a:t>Colspan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 err="1"/>
              <a:t>Rowspan</a:t>
            </a:r>
            <a:endParaRPr lang="en-US" dirty="0"/>
          </a:p>
          <a:p>
            <a:r>
              <a:rPr lang="en-US" dirty="0"/>
              <a:t>Applying CSS on Tables</a:t>
            </a:r>
          </a:p>
          <a:p>
            <a:r>
              <a:rPr lang="en-US" dirty="0"/>
              <a:t>Creating </a:t>
            </a:r>
            <a:r>
              <a:rPr lang="en-US" dirty="0" err="1"/>
              <a:t>Hoverable</a:t>
            </a:r>
            <a:r>
              <a:rPr lang="en-US" dirty="0"/>
              <a:t> </a:t>
            </a:r>
            <a:r>
              <a:rPr lang="en-US" dirty="0" smtClean="0"/>
              <a:t>Tables</a:t>
            </a:r>
          </a:p>
          <a:p>
            <a:r>
              <a:rPr lang="en-US" dirty="0"/>
              <a:t>Working with Forms:</a:t>
            </a:r>
          </a:p>
          <a:p>
            <a:pPr lvl="1"/>
            <a:r>
              <a:rPr lang="en-US" dirty="0"/>
              <a:t>Action Attribute</a:t>
            </a:r>
          </a:p>
          <a:p>
            <a:pPr lvl="1"/>
            <a:r>
              <a:rPr lang="en-US" dirty="0"/>
              <a:t>Get and Post Methods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9995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 smtClean="0"/>
              <a:t>Unit IV(Working with Tables, Working with Forms, </a:t>
            </a:r>
            <a:r>
              <a:rPr lang="en-US" sz="3200" b="1" dirty="0" smtClean="0"/>
              <a:t>CSS Grids and Webpage Layouts</a:t>
            </a:r>
            <a:r>
              <a:rPr lang="en-IN" sz="3200" b="1" dirty="0" smtClean="0"/>
              <a:t>)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Form Elements and </a:t>
            </a:r>
            <a:r>
              <a:rPr lang="en-US" dirty="0" smtClean="0"/>
              <a:t>Controls:</a:t>
            </a:r>
          </a:p>
          <a:p>
            <a:pPr lvl="1"/>
            <a:r>
              <a:rPr lang="en-US" dirty="0" smtClean="0"/>
              <a:t>Text </a:t>
            </a:r>
            <a:r>
              <a:rPr lang="en-US" dirty="0"/>
              <a:t>Inputs</a:t>
            </a:r>
          </a:p>
          <a:p>
            <a:pPr lvl="1"/>
            <a:r>
              <a:rPr lang="en-US" dirty="0" err="1"/>
              <a:t>TextArea</a:t>
            </a:r>
            <a:endParaRPr lang="en-US" dirty="0"/>
          </a:p>
          <a:p>
            <a:pPr lvl="1"/>
            <a:r>
              <a:rPr lang="en-US" dirty="0"/>
              <a:t>Buttons</a:t>
            </a:r>
          </a:p>
          <a:p>
            <a:pPr lvl="1"/>
            <a:r>
              <a:rPr lang="en-US" dirty="0" err="1"/>
              <a:t>CheckBoxes</a:t>
            </a:r>
            <a:endParaRPr lang="en-US" dirty="0"/>
          </a:p>
          <a:p>
            <a:pPr lvl="1"/>
            <a:r>
              <a:rPr lang="en-US" dirty="0"/>
              <a:t>Dropdown Boxes</a:t>
            </a:r>
          </a:p>
          <a:p>
            <a:pPr lvl="1"/>
            <a:r>
              <a:rPr lang="en-US" dirty="0"/>
              <a:t>Radio Buttons</a:t>
            </a:r>
          </a:p>
          <a:p>
            <a:pPr lvl="1"/>
            <a:r>
              <a:rPr lang="en-US" dirty="0"/>
              <a:t>Select and File Select</a:t>
            </a:r>
          </a:p>
          <a:p>
            <a:r>
              <a:rPr lang="en-US" dirty="0"/>
              <a:t>Applying CSS on All Controls of Forms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4288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 smtClean="0"/>
              <a:t>Unit IV (Working with Tables, Working with Forms, </a:t>
            </a:r>
            <a:r>
              <a:rPr lang="en-US" sz="3200" b="1" dirty="0" smtClean="0"/>
              <a:t>CSS Grids and Webpage Layouts</a:t>
            </a:r>
            <a:r>
              <a:rPr lang="en-IN" sz="3200" b="1" dirty="0" smtClean="0"/>
              <a:t>)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Grid Introduction</a:t>
            </a:r>
          </a:p>
          <a:p>
            <a:r>
              <a:rPr lang="en-US" dirty="0"/>
              <a:t>Grid Container</a:t>
            </a:r>
          </a:p>
          <a:p>
            <a:r>
              <a:rPr lang="en-US" dirty="0"/>
              <a:t>Grid Item</a:t>
            </a:r>
          </a:p>
          <a:p>
            <a:r>
              <a:rPr lang="en-US" dirty="0"/>
              <a:t>Creating Different Layouts for Webpage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6860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 smtClean="0"/>
              <a:t>Unit V (</a:t>
            </a:r>
            <a:r>
              <a:rPr lang="en-IN" sz="3200" b="1" dirty="0"/>
              <a:t>JavaScript Application </a:t>
            </a:r>
            <a:r>
              <a:rPr lang="en-IN" sz="3200" b="1" dirty="0" smtClean="0"/>
              <a:t>Development, </a:t>
            </a:r>
            <a:r>
              <a:rPr lang="en-IN" sz="3200" b="1" dirty="0"/>
              <a:t>JavaScript </a:t>
            </a:r>
            <a:r>
              <a:rPr lang="en-IN" sz="3200" b="1" dirty="0" err="1"/>
              <a:t>Functions,Events</a:t>
            </a:r>
            <a:r>
              <a:rPr lang="en-IN" sz="3200" b="1" dirty="0"/>
              <a:t> and Validation</a:t>
            </a:r>
            <a:r>
              <a:rPr lang="en-IN" sz="3200" b="1" dirty="0" smtClean="0"/>
              <a:t>)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Incorporating JavaScript in the HEAD and BODY Element</a:t>
            </a:r>
          </a:p>
          <a:p>
            <a:r>
              <a:rPr lang="en-US" dirty="0"/>
              <a:t>Using an External JavaScript File</a:t>
            </a:r>
          </a:p>
          <a:p>
            <a:r>
              <a:rPr lang="en-US" dirty="0"/>
              <a:t>Using Variables and Operators</a:t>
            </a:r>
          </a:p>
          <a:p>
            <a:r>
              <a:rPr lang="en-US" dirty="0"/>
              <a:t>Using Control Statements:</a:t>
            </a:r>
          </a:p>
          <a:p>
            <a:pPr lvl="1"/>
            <a:r>
              <a:rPr lang="en-US" dirty="0"/>
              <a:t>if...else</a:t>
            </a:r>
          </a:p>
          <a:p>
            <a:pPr lvl="1"/>
            <a:r>
              <a:rPr lang="en-US" dirty="0"/>
              <a:t>switch</a:t>
            </a:r>
          </a:p>
          <a:p>
            <a:pPr lvl="1"/>
            <a:r>
              <a:rPr lang="en-US" dirty="0"/>
              <a:t>break and continue</a:t>
            </a:r>
          </a:p>
          <a:p>
            <a:r>
              <a:rPr lang="en-US" dirty="0"/>
              <a:t>Using Looping Statements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while</a:t>
            </a:r>
            <a:endParaRPr lang="en-US" dirty="0"/>
          </a:p>
          <a:p>
            <a:pPr lvl="1"/>
            <a:r>
              <a:rPr lang="en-US" dirty="0" smtClean="0"/>
              <a:t>do	...</a:t>
            </a:r>
            <a:r>
              <a:rPr lang="en-US" dirty="0"/>
              <a:t>while</a:t>
            </a:r>
          </a:p>
          <a:p>
            <a:pPr lvl="1"/>
            <a:r>
              <a:rPr lang="en-US" dirty="0" smtClean="0"/>
              <a:t>for</a:t>
            </a:r>
            <a:endParaRPr lang="en-US" dirty="0"/>
          </a:p>
          <a:p>
            <a:pPr marL="4572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54581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 smtClean="0"/>
              <a:t>Unit V (</a:t>
            </a:r>
            <a:r>
              <a:rPr lang="en-IN" sz="3200" b="1" dirty="0"/>
              <a:t>JavaScript Application </a:t>
            </a:r>
            <a:r>
              <a:rPr lang="en-IN" sz="3200" b="1" dirty="0" smtClean="0"/>
              <a:t>Development, </a:t>
            </a:r>
            <a:r>
              <a:rPr lang="en-IN" sz="3200" b="1" dirty="0"/>
              <a:t>JavaScript </a:t>
            </a:r>
            <a:r>
              <a:rPr lang="en-IN" sz="3200" b="1" dirty="0" err="1"/>
              <a:t>Functions,Events</a:t>
            </a:r>
            <a:r>
              <a:rPr lang="en-IN" sz="3200" b="1" dirty="0"/>
              <a:t> and Validation</a:t>
            </a:r>
            <a:r>
              <a:rPr lang="en-IN" sz="3200" b="1" dirty="0" smtClean="0"/>
              <a:t>)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Popup Boxes:</a:t>
            </a:r>
          </a:p>
          <a:p>
            <a:pPr lvl="1"/>
            <a:r>
              <a:rPr lang="en-US" dirty="0"/>
              <a:t>Alert</a:t>
            </a:r>
          </a:p>
          <a:p>
            <a:pPr lvl="1"/>
            <a:r>
              <a:rPr lang="en-US" dirty="0"/>
              <a:t>Confirm</a:t>
            </a:r>
          </a:p>
          <a:p>
            <a:pPr lvl="1"/>
            <a:r>
              <a:rPr lang="en-US" dirty="0"/>
              <a:t>Prompt</a:t>
            </a:r>
          </a:p>
          <a:p>
            <a:r>
              <a:rPr lang="en-US" dirty="0"/>
              <a:t>Working with JavaScript Objects, Properties, and </a:t>
            </a:r>
            <a:r>
              <a:rPr lang="en-US" dirty="0" smtClean="0"/>
              <a:t>Methods</a:t>
            </a:r>
          </a:p>
          <a:p>
            <a:r>
              <a:rPr lang="en-US" dirty="0"/>
              <a:t>Working with Functions:</a:t>
            </a:r>
          </a:p>
          <a:p>
            <a:pPr lvl="1"/>
            <a:r>
              <a:rPr lang="en-US" dirty="0"/>
              <a:t>Using Function Arguments</a:t>
            </a:r>
          </a:p>
          <a:p>
            <a:pPr lvl="1"/>
            <a:r>
              <a:rPr lang="en-US" dirty="0"/>
              <a:t>Return Statement</a:t>
            </a:r>
          </a:p>
          <a:p>
            <a:endParaRPr lang="en-US" dirty="0" smtClean="0"/>
          </a:p>
          <a:p>
            <a:pPr marL="4572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2498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 smtClean="0"/>
              <a:t>Unit V (</a:t>
            </a:r>
            <a:r>
              <a:rPr lang="en-IN" sz="3200" b="1" dirty="0"/>
              <a:t>JavaScript Application </a:t>
            </a:r>
            <a:r>
              <a:rPr lang="en-IN" sz="3200" b="1" dirty="0" smtClean="0"/>
              <a:t>Development, </a:t>
            </a:r>
            <a:r>
              <a:rPr lang="en-IN" sz="3200" b="1" dirty="0"/>
              <a:t>JavaScript </a:t>
            </a:r>
            <a:r>
              <a:rPr lang="en-IN" sz="3200" b="1" dirty="0" err="1"/>
              <a:t>Functions,Events</a:t>
            </a:r>
            <a:r>
              <a:rPr lang="en-IN" sz="3200" b="1" dirty="0"/>
              <a:t> and Validation</a:t>
            </a:r>
            <a:r>
              <a:rPr lang="en-IN" sz="3200" b="1" dirty="0" smtClean="0"/>
              <a:t>)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Working with JavaScript Events:</a:t>
            </a:r>
          </a:p>
          <a:p>
            <a:pPr lvl="1"/>
            <a:r>
              <a:rPr lang="en-US" dirty="0"/>
              <a:t>Form-Based Events</a:t>
            </a:r>
          </a:p>
          <a:p>
            <a:pPr lvl="1"/>
            <a:r>
              <a:rPr lang="en-US" dirty="0"/>
              <a:t>Keyboard-Based Events</a:t>
            </a:r>
          </a:p>
          <a:p>
            <a:pPr lvl="1"/>
            <a:r>
              <a:rPr lang="en-US" dirty="0"/>
              <a:t>Mouse-Based Events</a:t>
            </a:r>
          </a:p>
          <a:p>
            <a:r>
              <a:rPr lang="en-US" dirty="0"/>
              <a:t>JavaScript Form Validation</a:t>
            </a:r>
          </a:p>
          <a:p>
            <a:pPr marL="4572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29480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dirty="0" smtClean="0"/>
              <a:t>Unit VI (JavaScript DOM)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DOM Introduction</a:t>
            </a:r>
          </a:p>
          <a:p>
            <a:r>
              <a:rPr lang="en-IN" dirty="0"/>
              <a:t>DOM Methods</a:t>
            </a:r>
          </a:p>
          <a:p>
            <a:r>
              <a:rPr lang="en-IN" dirty="0"/>
              <a:t>DOM Document</a:t>
            </a:r>
          </a:p>
          <a:p>
            <a:r>
              <a:rPr lang="en-IN" dirty="0"/>
              <a:t>DOM Elements</a:t>
            </a:r>
          </a:p>
          <a:p>
            <a:r>
              <a:rPr lang="en-IN" dirty="0"/>
              <a:t>DOM HTML</a:t>
            </a:r>
          </a:p>
          <a:p>
            <a:r>
              <a:rPr lang="en-IN" dirty="0"/>
              <a:t>DOM CSS</a:t>
            </a:r>
          </a:p>
          <a:p>
            <a:r>
              <a:rPr lang="en-IN" dirty="0"/>
              <a:t>DOM </a:t>
            </a:r>
            <a:r>
              <a:rPr lang="en-IN" dirty="0" smtClean="0"/>
              <a:t>Events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6968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dirty="0" smtClean="0"/>
              <a:t>References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hlinkClick r:id="rId2"/>
              </a:rPr>
              <a:t>https://www.freecodecamp.org/learn/2022/responsive-web-design</a:t>
            </a:r>
            <a:r>
              <a:rPr lang="en-IN" dirty="0" smtClean="0">
                <a:hlinkClick r:id="rId2"/>
              </a:rPr>
              <a:t>/</a:t>
            </a:r>
            <a:endParaRPr lang="en-IN" dirty="0" smtClean="0"/>
          </a:p>
          <a:p>
            <a:r>
              <a:rPr lang="en-IN" dirty="0">
                <a:hlinkClick r:id="rId3"/>
              </a:rPr>
              <a:t>https://www.w3schools.com/html</a:t>
            </a:r>
            <a:r>
              <a:rPr lang="en-IN" dirty="0" smtClean="0">
                <a:hlinkClick r:id="rId3"/>
              </a:rPr>
              <a:t>/</a:t>
            </a:r>
            <a:endParaRPr lang="en-IN" dirty="0" smtClean="0"/>
          </a:p>
          <a:p>
            <a:r>
              <a:rPr lang="en-IN" dirty="0">
                <a:hlinkClick r:id="rId4"/>
              </a:rPr>
              <a:t>https://</a:t>
            </a:r>
            <a:r>
              <a:rPr lang="en-IN" dirty="0" smtClean="0">
                <a:hlinkClick r:id="rId4"/>
              </a:rPr>
              <a:t>www.w3schools.com/tags/default.asp</a:t>
            </a:r>
            <a:endParaRPr lang="en-IN" dirty="0" smtClean="0"/>
          </a:p>
          <a:p>
            <a:r>
              <a:rPr lang="en-IN" dirty="0">
                <a:hlinkClick r:id="rId5"/>
              </a:rPr>
              <a:t>https://www.w3schools.com/css</a:t>
            </a:r>
            <a:r>
              <a:rPr lang="en-IN" dirty="0" smtClean="0">
                <a:hlinkClick r:id="rId5"/>
              </a:rPr>
              <a:t>/</a:t>
            </a:r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1869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636912"/>
            <a:ext cx="7315200" cy="1154097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 smtClean="0"/>
              <a:t>Thank you</a:t>
            </a:r>
            <a:endParaRPr lang="en-IN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Navneet Kaur, Lovely Professional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950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156</TotalTime>
  <Words>1126</Words>
  <Application>Microsoft Office PowerPoint</Application>
  <PresentationFormat>On-screen Show (4:3)</PresentationFormat>
  <Paragraphs>189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Perspective</vt:lpstr>
      <vt:lpstr>CSE326  Internet Programming Laboratory</vt:lpstr>
      <vt:lpstr>Intructions for the students</vt:lpstr>
      <vt:lpstr>Intructions for the faculties</vt:lpstr>
      <vt:lpstr>Assessment Scheme</vt:lpstr>
      <vt:lpstr>Continuous Assessment Practicals</vt:lpstr>
      <vt:lpstr>Basic components of course</vt:lpstr>
      <vt:lpstr>Course outcomes</vt:lpstr>
      <vt:lpstr>Course outcomes</vt:lpstr>
      <vt:lpstr>Course contents</vt:lpstr>
      <vt:lpstr>Slide 10</vt:lpstr>
      <vt:lpstr>Unit I (Exposure To HTML)</vt:lpstr>
      <vt:lpstr>Unit II (Working with Text, Links, Images and Tables in HTML)</vt:lpstr>
      <vt:lpstr>Unit II (Working with Text, Links, Images and Tables in HTML)</vt:lpstr>
      <vt:lpstr>Unit III (Cascading Style Sheets)</vt:lpstr>
      <vt:lpstr>Unit IV(Working with Tables, Working with Forms, CSS Grids and Webpage Layouts)</vt:lpstr>
      <vt:lpstr>Unit IV(Working with Tables, Working with Forms, CSS Grids and Webpage Layouts)</vt:lpstr>
      <vt:lpstr>Unit IV (Working with Tables, Working with Forms, CSS Grids and Webpage Layouts)</vt:lpstr>
      <vt:lpstr>Unit V (JavaScript Application Development, JavaScript Functions,Events and Validation)</vt:lpstr>
      <vt:lpstr>Unit V (JavaScript Application Development, JavaScript Functions,Events and Validation)</vt:lpstr>
      <vt:lpstr>Unit V (JavaScript Application Development, JavaScript Functions,Events and Validation)</vt:lpstr>
      <vt:lpstr>Unit VI (JavaScript DOM)</vt:lpstr>
      <vt:lpstr>References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 pc</cp:lastModifiedBy>
  <cp:revision>88</cp:revision>
  <dcterms:created xsi:type="dcterms:W3CDTF">2023-08-17T03:51:20Z</dcterms:created>
  <dcterms:modified xsi:type="dcterms:W3CDTF">2023-08-21T07:10:40Z</dcterms:modified>
</cp:coreProperties>
</file>