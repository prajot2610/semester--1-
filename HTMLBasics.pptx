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381000" y="990600"/>
            <a:ext cx="7772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Calibri"/>
                <a:ea typeface="Calibri"/>
                <a:cs typeface="Calibri"/>
                <a:sym typeface="Calibri"/>
              </a:rPr>
              <a:t>FUNDAMENTALS OF HTML</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89" name="Google Shape;89;p13"/>
          <p:cNvSpPr/>
          <p:nvPr/>
        </p:nvSpPr>
        <p:spPr>
          <a:xfrm>
            <a:off x="381000" y="1066800"/>
            <a:ext cx="8382000" cy="46782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a:t>
            </a:r>
            <a:br>
              <a:rPr lang="en-US" sz="1800">
                <a:solidFill>
                  <a:schemeClr val="dk1"/>
                </a:solidFill>
                <a:latin typeface="Times New Roman"/>
                <a:ea typeface="Times New Roman"/>
                <a:cs typeface="Times New Roman"/>
                <a:sym typeface="Times New Roman"/>
              </a:rPr>
            </a:br>
            <a:endParaRPr b="1" sz="1800" u="sng">
              <a:solidFill>
                <a:srgbClr val="00808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Calibri"/>
              <a:buNone/>
            </a:pPr>
            <a:r>
              <a:t/>
            </a:r>
            <a:endParaRPr b="1" i="0" sz="1800" u="sng" cap="none" strike="noStrike">
              <a:solidFill>
                <a:srgbClr val="00808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90" name="Google Shape;90;p13"/>
          <p:cNvSpPr txBox="1"/>
          <p:nvPr/>
        </p:nvSpPr>
        <p:spPr>
          <a:xfrm>
            <a:off x="533400" y="1524000"/>
            <a:ext cx="8382000"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HTML stands for </a:t>
            </a:r>
            <a:r>
              <a:rPr b="1" lang="en-US" sz="1800" u="sng">
                <a:solidFill>
                  <a:schemeClr val="dk1"/>
                </a:solidFill>
                <a:latin typeface="Calibri"/>
                <a:ea typeface="Calibri"/>
                <a:cs typeface="Calibri"/>
                <a:sym typeface="Calibri"/>
              </a:rPr>
              <a:t>H</a:t>
            </a:r>
            <a:r>
              <a:rPr lang="en-US" sz="1800">
                <a:solidFill>
                  <a:schemeClr val="dk1"/>
                </a:solidFill>
                <a:latin typeface="Calibri"/>
                <a:ea typeface="Calibri"/>
                <a:cs typeface="Calibri"/>
                <a:sym typeface="Calibri"/>
              </a:rPr>
              <a:t>yper</a:t>
            </a:r>
            <a:r>
              <a:rPr b="1" lang="en-US" sz="1800" u="sng">
                <a:solidFill>
                  <a:schemeClr val="dk1"/>
                </a:solidFill>
                <a:latin typeface="Calibri"/>
                <a:ea typeface="Calibri"/>
                <a:cs typeface="Calibri"/>
                <a:sym typeface="Calibri"/>
              </a:rPr>
              <a:t>t</a:t>
            </a:r>
            <a:r>
              <a:rPr lang="en-US" sz="1800">
                <a:solidFill>
                  <a:schemeClr val="dk1"/>
                </a:solidFill>
                <a:latin typeface="Calibri"/>
                <a:ea typeface="Calibri"/>
                <a:cs typeface="Calibri"/>
                <a:sym typeface="Calibri"/>
              </a:rPr>
              <a:t>ext </a:t>
            </a:r>
            <a:r>
              <a:rPr b="1" lang="en-US" sz="1800" u="sng">
                <a:solidFill>
                  <a:schemeClr val="dk1"/>
                </a:solidFill>
                <a:latin typeface="Calibri"/>
                <a:ea typeface="Calibri"/>
                <a:cs typeface="Calibri"/>
                <a:sym typeface="Calibri"/>
              </a:rPr>
              <a:t>M</a:t>
            </a:r>
            <a:r>
              <a:rPr lang="en-US" sz="1800">
                <a:solidFill>
                  <a:schemeClr val="dk1"/>
                </a:solidFill>
                <a:latin typeface="Calibri"/>
                <a:ea typeface="Calibri"/>
                <a:cs typeface="Calibri"/>
                <a:sym typeface="Calibri"/>
              </a:rPr>
              <a:t>arkup </a:t>
            </a:r>
            <a:r>
              <a:rPr b="1" lang="en-US" sz="1800" u="sng">
                <a:solidFill>
                  <a:schemeClr val="dk1"/>
                </a:solidFill>
                <a:latin typeface="Calibri"/>
                <a:ea typeface="Calibri"/>
                <a:cs typeface="Calibri"/>
                <a:sym typeface="Calibri"/>
              </a:rPr>
              <a:t>L</a:t>
            </a:r>
            <a:r>
              <a:rPr lang="en-US" sz="1800">
                <a:solidFill>
                  <a:schemeClr val="dk1"/>
                </a:solidFill>
                <a:latin typeface="Calibri"/>
                <a:ea typeface="Calibri"/>
                <a:cs typeface="Calibri"/>
                <a:sym typeface="Calibri"/>
              </a:rPr>
              <a:t>anguage, and it is the most widely used language to write Web Pages.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Hypertext</a:t>
            </a:r>
            <a:r>
              <a:rPr lang="en-US" sz="1800">
                <a:solidFill>
                  <a:schemeClr val="dk1"/>
                </a:solidFill>
                <a:latin typeface="Calibri"/>
                <a:ea typeface="Calibri"/>
                <a:cs typeface="Calibri"/>
                <a:sym typeface="Calibri"/>
              </a:rPr>
              <a:t> refers to the way in which Web pages (HTML documents) are linked together. Thus the link available on a webpage are called Hypertext.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Basic HTML Document Example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&lt;title&gt;This is document title&lt;/title&gt;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&lt;h1&gt;This is a heading&lt;/h1&gt;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&lt;p&gt;Document content goes here.....&lt;/p&gt;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nvSpPr>
        <p:spPr>
          <a:xfrm>
            <a:off x="228601" y="1066800"/>
            <a:ext cx="8610600"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HTML Tags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As told earlier, HTML is a markup language and makes use of various tags to format the content. These tags are enclosed within angle braces </a:t>
            </a:r>
            <a:r>
              <a:rPr b="1" lang="en-US" sz="1800">
                <a:solidFill>
                  <a:schemeClr val="dk1"/>
                </a:solidFill>
                <a:latin typeface="Calibri"/>
                <a:ea typeface="Calibri"/>
                <a:cs typeface="Calibri"/>
                <a:sym typeface="Calibri"/>
              </a:rPr>
              <a:t>&lt;Tag Name&gt;</a:t>
            </a:r>
            <a:r>
              <a:rPr lang="en-US" sz="1800">
                <a:solidFill>
                  <a:schemeClr val="dk1"/>
                </a:solidFill>
                <a:latin typeface="Calibri"/>
                <a:ea typeface="Calibri"/>
                <a:cs typeface="Calibri"/>
                <a:sym typeface="Calibri"/>
              </a:rPr>
              <a:t>. Except few tags, most of the tags have their corresponding closing tags. For example </a:t>
            </a:r>
            <a:r>
              <a:rPr b="1" lang="en-US" sz="1800">
                <a:solidFill>
                  <a:schemeClr val="dk1"/>
                </a:solidFill>
                <a:latin typeface="Calibri"/>
                <a:ea typeface="Calibri"/>
                <a:cs typeface="Calibri"/>
                <a:sym typeface="Calibri"/>
              </a:rPr>
              <a:t>&lt;html&gt;</a:t>
            </a:r>
            <a:r>
              <a:rPr lang="en-US" sz="1800">
                <a:solidFill>
                  <a:schemeClr val="dk1"/>
                </a:solidFill>
                <a:latin typeface="Calibri"/>
                <a:ea typeface="Calibri"/>
                <a:cs typeface="Calibri"/>
                <a:sym typeface="Calibri"/>
              </a:rPr>
              <a:t> has its closing tag </a:t>
            </a:r>
            <a:r>
              <a:rPr b="1" lang="en-US" sz="1800">
                <a:solidFill>
                  <a:schemeClr val="dk1"/>
                </a:solidFill>
                <a:latin typeface="Calibri"/>
                <a:ea typeface="Calibri"/>
                <a:cs typeface="Calibri"/>
                <a:sym typeface="Calibri"/>
              </a:rPr>
              <a:t>&lt;/html&gt;</a:t>
            </a:r>
            <a:r>
              <a:rPr lang="en-US" sz="1800">
                <a:solidFill>
                  <a:schemeClr val="dk1"/>
                </a:solidFill>
                <a:latin typeface="Calibri"/>
                <a:ea typeface="Calibri"/>
                <a:cs typeface="Calibri"/>
                <a:sym typeface="Calibri"/>
              </a:rPr>
              <a:t> and </a:t>
            </a:r>
            <a:r>
              <a:rPr b="1" lang="en-US" sz="1800">
                <a:solidFill>
                  <a:schemeClr val="dk1"/>
                </a:solidFill>
                <a:latin typeface="Calibri"/>
                <a:ea typeface="Calibri"/>
                <a:cs typeface="Calibri"/>
                <a:sym typeface="Calibri"/>
              </a:rPr>
              <a:t>&lt;body&gt;</a:t>
            </a:r>
            <a:r>
              <a:rPr lang="en-US" sz="1800">
                <a:solidFill>
                  <a:schemeClr val="dk1"/>
                </a:solidFill>
                <a:latin typeface="Calibri"/>
                <a:ea typeface="Calibri"/>
                <a:cs typeface="Calibri"/>
                <a:sym typeface="Calibri"/>
              </a:rPr>
              <a:t> tag has its closing tag </a:t>
            </a:r>
            <a:r>
              <a:rPr b="1" lang="en-US" sz="1800">
                <a:solidFill>
                  <a:schemeClr val="dk1"/>
                </a:solidFill>
                <a:latin typeface="Calibri"/>
                <a:ea typeface="Calibri"/>
                <a:cs typeface="Calibri"/>
                <a:sym typeface="Calibri"/>
              </a:rPr>
              <a:t>&lt;/body&gt;</a:t>
            </a:r>
            <a:r>
              <a:rPr lang="en-US" sz="1800">
                <a:solidFill>
                  <a:schemeClr val="dk1"/>
                </a:solidFill>
                <a:latin typeface="Calibri"/>
                <a:ea typeface="Calibri"/>
                <a:cs typeface="Calibri"/>
                <a:sym typeface="Calibri"/>
              </a:rPr>
              <a:t> tag etc.</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HTML Document Structure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 typical HTML document will have following structure: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Document declaration tag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Document header related tags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Document body related tags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304800" y="990600"/>
            <a:ext cx="8534401" cy="48320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The &lt;!DOCTYPE&gt; Declaration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&lt;!DOCTYPE&gt; declaration tag is used by the web browser to understand the type and  version of the HTML used in the document. Current version of HTML is 5 and it makes use of the following declaration: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HTML Basic Tags</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Heading Tags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HTML also has six levels of headings, which use the elements </a:t>
            </a:r>
            <a:r>
              <a:rPr b="1" lang="en-US" sz="1800">
                <a:solidFill>
                  <a:schemeClr val="dk1"/>
                </a:solidFill>
                <a:latin typeface="Calibri"/>
                <a:ea typeface="Calibri"/>
                <a:cs typeface="Calibri"/>
                <a:sym typeface="Calibri"/>
              </a:rPr>
              <a:t>&lt;h1&gt;, &lt;h2&gt;, &lt;h3&gt;, &lt;h4&gt;, &lt;h5&gt;, and &lt;h6&gt;</a:t>
            </a:r>
            <a:r>
              <a:rPr lang="en-US" sz="1800">
                <a:solidFill>
                  <a:schemeClr val="dk1"/>
                </a:solidFill>
                <a:latin typeface="Calibri"/>
                <a:ea typeface="Calibri"/>
                <a:cs typeface="Calibri"/>
                <a:sym typeface="Calibri"/>
              </a:rPr>
              <a:t>. While displaying any heading, browser adds one line before and one line after that heading.</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nvSpPr>
        <p:spPr>
          <a:xfrm>
            <a:off x="381000" y="1143000"/>
            <a:ext cx="830580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&lt;title&gt;Heading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&lt;h1&gt;Hello LPU &lt;/h1&gt;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&lt;h2&gt;Hello LPU &lt;/h2&gt;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&lt;h3&gt;Hello LPU &lt;/h3&gt;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&lt;h4&gt;Hello LPU &lt;/h4&gt;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&lt;h5&gt;Hello LPU &lt;/h5&gt;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&lt;h6&gt;Hello LPU &lt;/h6&gt;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nvSpPr>
        <p:spPr>
          <a:xfrm>
            <a:off x="381000" y="762000"/>
            <a:ext cx="7772400"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Paragraph Tag</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&lt;p&gt;</a:t>
            </a:r>
            <a:r>
              <a:rPr lang="en-US" sz="1800">
                <a:solidFill>
                  <a:schemeClr val="dk1"/>
                </a:solidFill>
                <a:latin typeface="Calibri"/>
                <a:ea typeface="Calibri"/>
                <a:cs typeface="Calibri"/>
                <a:sym typeface="Calibri"/>
              </a:rPr>
              <a:t> tag offers a way to structure your text into different paragraphs. Each paragraph of text should go in between an opening &lt;p&gt; and a closing &lt;/p&gt; tag as shown below in the example:</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&lt;title&gt;Paragraph Example&lt;/title&gt;&lt;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&lt;p&gt;Here is a first paragraph of text.&lt;/p&gt;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&lt;p&gt;&lt;h2&gt;Here is a second paragraph of text.&lt;/h2&gt;&lt;/p&gt;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&lt;p&gt;Here is a third paragraph of text.&lt;/p&gt;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Times New Roman"/>
              <a:ea typeface="Times New Roman"/>
              <a:cs typeface="Times New Roman"/>
              <a:sym typeface="Times New Roman"/>
            </a:endParaRPr>
          </a:p>
        </p:txBody>
      </p:sp>
      <p:sp>
        <p:nvSpPr>
          <p:cNvPr id="111" name="Google Shape;111;p17"/>
          <p:cNvSpPr txBox="1"/>
          <p:nvPr/>
        </p:nvSpPr>
        <p:spPr>
          <a:xfrm>
            <a:off x="228600" y="1371600"/>
            <a:ext cx="891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nvSpPr>
        <p:spPr>
          <a:xfrm>
            <a:off x="457200" y="990600"/>
            <a:ext cx="8001000" cy="60016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Line Break Tag</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Whenever you use the </a:t>
            </a:r>
            <a:r>
              <a:rPr b="1" lang="en-US" sz="1800">
                <a:solidFill>
                  <a:schemeClr val="dk1"/>
                </a:solidFill>
                <a:latin typeface="Calibri"/>
                <a:ea typeface="Calibri"/>
                <a:cs typeface="Calibri"/>
                <a:sym typeface="Calibri"/>
              </a:rPr>
              <a:t>&lt;br /&gt;</a:t>
            </a:r>
            <a:r>
              <a:rPr lang="en-US" sz="1800">
                <a:solidFill>
                  <a:schemeClr val="dk1"/>
                </a:solidFill>
                <a:latin typeface="Calibri"/>
                <a:ea typeface="Calibri"/>
                <a:cs typeface="Calibri"/>
                <a:sym typeface="Calibri"/>
              </a:rPr>
              <a:t> element, anything following it starts from the next line. This tag is an example of an </a:t>
            </a:r>
            <a:r>
              <a:rPr b="1" lang="en-US" sz="1800">
                <a:solidFill>
                  <a:schemeClr val="dk1"/>
                </a:solidFill>
                <a:latin typeface="Calibri"/>
                <a:ea typeface="Calibri"/>
                <a:cs typeface="Calibri"/>
                <a:sym typeface="Calibri"/>
              </a:rPr>
              <a:t>empty</a:t>
            </a:r>
            <a:r>
              <a:rPr lang="en-US" sz="1800">
                <a:solidFill>
                  <a:schemeClr val="dk1"/>
                </a:solidFill>
                <a:latin typeface="Calibri"/>
                <a:ea typeface="Calibri"/>
                <a:cs typeface="Calibri"/>
                <a:sym typeface="Calibri"/>
              </a:rPr>
              <a:t> element, where you do not need opening and closing tags, as there is nothing to go in between them.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&lt;br /&gt; tag has a space between the characters </a:t>
            </a:r>
            <a:r>
              <a:rPr b="1" lang="en-US" sz="1800">
                <a:solidFill>
                  <a:schemeClr val="dk1"/>
                </a:solidFill>
                <a:latin typeface="Calibri"/>
                <a:ea typeface="Calibri"/>
                <a:cs typeface="Calibri"/>
                <a:sym typeface="Calibri"/>
              </a:rPr>
              <a:t>br</a:t>
            </a:r>
            <a:r>
              <a:rPr lang="en-US" sz="1800">
                <a:solidFill>
                  <a:schemeClr val="dk1"/>
                </a:solidFill>
                <a:latin typeface="Calibri"/>
                <a:ea typeface="Calibri"/>
                <a:cs typeface="Calibri"/>
                <a:sym typeface="Calibri"/>
              </a:rPr>
              <a:t> and the forward slash.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NB:  If you omit this space, older browsers will have trouble rendering the line break, while if you miss the forward slash character and just use &lt;br&gt; it is not valid in XHTML</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&lt;title&gt;Line Break  Example&lt;/title&gt;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&lt;p&gt;Hello&lt;br /&gt;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LPU&lt;br /&gt;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Block -34&lt;br /&gt;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CSE &lt;/p&gt;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nvSpPr>
        <p:spPr>
          <a:xfrm>
            <a:off x="304800" y="762000"/>
            <a:ext cx="8610600"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Centering Content</a:t>
            </a:r>
            <a:endParaRPr/>
          </a:p>
          <a:p>
            <a:pPr indent="0" lvl="0" marL="0" marR="0" rtl="0" algn="l">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You can use </a:t>
            </a:r>
            <a:r>
              <a:rPr b="1" lang="en-US" sz="1600">
                <a:solidFill>
                  <a:schemeClr val="dk1"/>
                </a:solidFill>
                <a:latin typeface="Calibri"/>
                <a:ea typeface="Calibri"/>
                <a:cs typeface="Calibri"/>
                <a:sym typeface="Calibri"/>
              </a:rPr>
              <a:t>&lt;center&gt;</a:t>
            </a:r>
            <a:r>
              <a:rPr lang="en-US" sz="1600">
                <a:solidFill>
                  <a:schemeClr val="dk1"/>
                </a:solidFill>
                <a:latin typeface="Calibri"/>
                <a:ea typeface="Calibri"/>
                <a:cs typeface="Calibri"/>
                <a:sym typeface="Calibri"/>
              </a:rPr>
              <a:t> tag to put any content in the center of the page or any table cell.</a:t>
            </a:r>
            <a:endParaRPr/>
          </a:p>
          <a:p>
            <a:pPr indent="0" lvl="0" marL="0" marR="0" rtl="0" algn="l">
              <a:spcBef>
                <a:spcPts val="0"/>
              </a:spcBef>
              <a:spcAft>
                <a:spcPts val="0"/>
              </a:spcAft>
              <a:buNone/>
            </a:pPr>
            <a:r>
              <a:rPr b="1" lang="en-US" sz="16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&lt;title&gt;Centring Content Example&lt;/title&gt;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&lt;p&gt;Welcome to LPU&lt;/p&gt;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&lt;center&gt;&lt;p&gt;Welcome to School of CSE&lt;/p&gt;&lt;/center&gt;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&lt;/html&gt;</a:t>
            </a:r>
            <a:br>
              <a:rPr lang="en-US" sz="1600">
                <a:solidFill>
                  <a:schemeClr val="dk1"/>
                </a:solidFill>
                <a:latin typeface="Calibri"/>
                <a:ea typeface="Calibri"/>
                <a:cs typeface="Calibri"/>
                <a:sym typeface="Calibri"/>
              </a:rPr>
            </a:b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nvSpPr>
        <p:spPr>
          <a:xfrm>
            <a:off x="457200" y="685800"/>
            <a:ext cx="8305800" cy="577081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Horizontal Lines</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Horizontal lines are used to visually break up sections of a document. The </a:t>
            </a:r>
            <a:r>
              <a:rPr b="1" lang="en-US" sz="1800">
                <a:solidFill>
                  <a:schemeClr val="dk1"/>
                </a:solidFill>
                <a:latin typeface="Calibri"/>
                <a:ea typeface="Calibri"/>
                <a:cs typeface="Calibri"/>
                <a:sym typeface="Calibri"/>
              </a:rPr>
              <a:t>&lt;hr /&gt;</a:t>
            </a:r>
            <a:r>
              <a:rPr lang="en-US" sz="1800">
                <a:solidFill>
                  <a:schemeClr val="dk1"/>
                </a:solidFill>
                <a:latin typeface="Calibri"/>
                <a:ea typeface="Calibri"/>
                <a:cs typeface="Calibri"/>
                <a:sym typeface="Calibri"/>
              </a:rPr>
              <a:t> tag creates a line from the current position in the document to the right margin and breaks the line accordingly.</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For example you may want to give a line between two paragraphs as in the given example below:</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&lt;title&gt;Horizontal Line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&lt;p&gt;This is paragraph one and should be on top&lt;/p&gt;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&lt;hr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&lt;p&gt;This is paragraph two and should be at bottom&lt;/p&gt;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nvSpPr>
        <p:spPr>
          <a:xfrm>
            <a:off x="304800" y="609600"/>
            <a:ext cx="8382000"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Calibri"/>
                <a:ea typeface="Calibri"/>
                <a:cs typeface="Calibri"/>
                <a:sym typeface="Calibri"/>
              </a:rPr>
              <a:t>Preserve Formatting</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Sometimes you want your text to follow the exact format of how it is written in the HTML document. In those cases, you can use the preformatted tag &lt;pre&gt;.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 text between the opening &lt;pre&gt; tag and the closing &lt;/pre&gt; tag will preserve the formatting of the source document.</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&lt;title&gt;Preserve Formatting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&lt;pre&gt;function testFunction( strText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alert (strText)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&lt;/pre&gt;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nvSpPr>
        <p:spPr>
          <a:xfrm>
            <a:off x="381000" y="762000"/>
            <a:ext cx="8229600" cy="43396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HTML Elements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 </a:t>
            </a:r>
            <a:r>
              <a:rPr b="1" lang="en-US" sz="1800">
                <a:solidFill>
                  <a:schemeClr val="dk1"/>
                </a:solidFill>
                <a:latin typeface="Calibri"/>
                <a:ea typeface="Calibri"/>
                <a:cs typeface="Calibri"/>
                <a:sym typeface="Calibri"/>
              </a:rPr>
              <a:t>HTML element</a:t>
            </a:r>
            <a:r>
              <a:rPr lang="en-US" sz="1800">
                <a:solidFill>
                  <a:schemeClr val="dk1"/>
                </a:solidFill>
                <a:latin typeface="Calibri"/>
                <a:ea typeface="Calibri"/>
                <a:cs typeface="Calibri"/>
                <a:sym typeface="Calibri"/>
              </a:rPr>
              <a:t> is defined by a starting tag. If the element contains other content, it ends with a closing tag, where the element name is preceded by a forward slash as shown below with few tags:</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Start Tag                      Content                                End Tag</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              This is paragraph content.                     &lt;/p&gt;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&lt;h1&gt;            This is heading content.                         &lt;/h1&gt;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&lt;div&gt;           This is division content.                          &lt;/div&gt;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NB: There are some HTML elements which don't need to be closed, such as &lt;img.../&gt;, &lt;hr /&gt; and &lt;br /&gt; elements. These are known as </a:t>
            </a:r>
            <a:r>
              <a:rPr b="1" lang="en-US" sz="1800">
                <a:solidFill>
                  <a:schemeClr val="dk1"/>
                </a:solidFill>
                <a:latin typeface="Calibri"/>
                <a:ea typeface="Calibri"/>
                <a:cs typeface="Calibri"/>
                <a:sym typeface="Calibri"/>
              </a:rPr>
              <a:t>void elements</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 </a:t>
            </a:r>
            <a:endParaRPr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nvSpPr>
        <p:spPr>
          <a:xfrm>
            <a:off x="304800" y="990600"/>
            <a:ext cx="8610600" cy="4308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HTML Attributes</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 attribute is used to define the characteristics of an HTML element and is placed inside the element's opening tag. All attributes are made up of two parts: a </a:t>
            </a:r>
            <a:r>
              <a:rPr b="1" lang="en-US" sz="1800">
                <a:solidFill>
                  <a:schemeClr val="dk1"/>
                </a:solidFill>
                <a:latin typeface="Calibri"/>
                <a:ea typeface="Calibri"/>
                <a:cs typeface="Calibri"/>
                <a:sym typeface="Calibri"/>
              </a:rPr>
              <a:t>name</a:t>
            </a:r>
            <a:r>
              <a:rPr lang="en-US" sz="1800">
                <a:solidFill>
                  <a:schemeClr val="dk1"/>
                </a:solidFill>
                <a:latin typeface="Calibri"/>
                <a:ea typeface="Calibri"/>
                <a:cs typeface="Calibri"/>
                <a:sym typeface="Calibri"/>
              </a:rPr>
              <a:t> and a </a:t>
            </a:r>
            <a:r>
              <a:rPr b="1" lang="en-US" sz="1800">
                <a:solidFill>
                  <a:schemeClr val="dk1"/>
                </a:solidFill>
                <a:latin typeface="Calibri"/>
                <a:ea typeface="Calibri"/>
                <a:cs typeface="Calibri"/>
                <a:sym typeface="Calibri"/>
              </a:rPr>
              <a:t>value</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name</a:t>
            </a:r>
            <a:r>
              <a:rPr lang="en-US" sz="1800">
                <a:solidFill>
                  <a:schemeClr val="dk1"/>
                </a:solidFill>
                <a:latin typeface="Calibri"/>
                <a:ea typeface="Calibri"/>
                <a:cs typeface="Calibri"/>
                <a:sym typeface="Calibri"/>
              </a:rPr>
              <a:t> is the property you want to set. For example, the paragraph &lt;p&gt; element in the example carries an attribute whose name is </a:t>
            </a:r>
            <a:r>
              <a:rPr b="1" lang="en-US" sz="1800">
                <a:solidFill>
                  <a:schemeClr val="dk1"/>
                </a:solidFill>
                <a:latin typeface="Calibri"/>
                <a:ea typeface="Calibri"/>
                <a:cs typeface="Calibri"/>
                <a:sym typeface="Calibri"/>
              </a:rPr>
              <a:t>align</a:t>
            </a:r>
            <a:r>
              <a:rPr lang="en-US" sz="1800">
                <a:solidFill>
                  <a:schemeClr val="dk1"/>
                </a:solidFill>
                <a:latin typeface="Calibri"/>
                <a:ea typeface="Calibri"/>
                <a:cs typeface="Calibri"/>
                <a:sym typeface="Calibri"/>
              </a:rPr>
              <a:t>, which you can use to indicate the alignment of paragraph on the page.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value</a:t>
            </a:r>
            <a:r>
              <a:rPr lang="en-US" sz="1800">
                <a:solidFill>
                  <a:schemeClr val="dk1"/>
                </a:solidFill>
                <a:latin typeface="Calibri"/>
                <a:ea typeface="Calibri"/>
                <a:cs typeface="Calibri"/>
                <a:sym typeface="Calibri"/>
              </a:rPr>
              <a:t> is what you want the value of the property to be set and always put within quotations. The below example shows three possible values of align attribute: </a:t>
            </a:r>
            <a:r>
              <a:rPr b="1" lang="en-US" sz="1800">
                <a:solidFill>
                  <a:schemeClr val="dk1"/>
                </a:solidFill>
                <a:latin typeface="Calibri"/>
                <a:ea typeface="Calibri"/>
                <a:cs typeface="Calibri"/>
                <a:sym typeface="Calibri"/>
              </a:rPr>
              <a:t>left, center</a:t>
            </a:r>
            <a:r>
              <a:rPr lang="en-US" sz="1800">
                <a:solidFill>
                  <a:schemeClr val="dk1"/>
                </a:solidFill>
                <a:latin typeface="Calibri"/>
                <a:ea typeface="Calibri"/>
                <a:cs typeface="Calibri"/>
                <a:sym typeface="Calibri"/>
              </a:rPr>
              <a:t> and </a:t>
            </a:r>
            <a:r>
              <a:rPr b="1" lang="en-US" sz="1800">
                <a:solidFill>
                  <a:schemeClr val="dk1"/>
                </a:solidFill>
                <a:latin typeface="Calibri"/>
                <a:ea typeface="Calibri"/>
                <a:cs typeface="Calibri"/>
                <a:sym typeface="Calibri"/>
              </a:rPr>
              <a:t>right</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nvSpPr>
        <p:spPr>
          <a:xfrm>
            <a:off x="228601" y="1143000"/>
            <a:ext cx="8686799"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&lt;title&gt;Align Attribute  Example&lt;/title&gt;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 align="left"&gt;This is left aligned&lt;/p&gt;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 align="center"&gt;This is center aligned&lt;/p&gt;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 align="right"&gt;This is right aligned&lt;/p&gt;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nvSpPr>
        <p:spPr>
          <a:xfrm>
            <a:off x="228600" y="990600"/>
            <a:ext cx="8610600"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Core Attributes</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four core attributes that can be used on the majority of HTML elements  are: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title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class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style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The id Attribute</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id</a:t>
            </a:r>
            <a:r>
              <a:rPr lang="en-US" sz="1800">
                <a:solidFill>
                  <a:schemeClr val="dk1"/>
                </a:solidFill>
                <a:latin typeface="Calibri"/>
                <a:ea typeface="Calibri"/>
                <a:cs typeface="Calibri"/>
                <a:sym typeface="Calibri"/>
              </a:rPr>
              <a:t> attribute of an HTML tag can be used to uniquely identify any element within an HTML page. There are two primary reasons that you might want to use an id attribute on an element: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If an element carries an id attribute as a unique identifier it is possible to identify just that element and its content.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If you have two elements of the same name within a Web page (or style sheet), you can use the id attribute to distinguish between elements that have the same name.</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nvSpPr>
        <p:spPr>
          <a:xfrm>
            <a:off x="457200" y="990600"/>
            <a:ext cx="8382000"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t/>
            </a:r>
            <a:endParaRPr b="1" i="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 id="html"&gt; Simple HTML Text&lt;/p&gt;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 id="css"&gt;HTML with  Cascading Style Sheet properties&lt;/p&gt;</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The title Attribute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title</a:t>
            </a:r>
            <a:r>
              <a:rPr lang="en-US" sz="1800">
                <a:solidFill>
                  <a:schemeClr val="dk1"/>
                </a:solidFill>
                <a:latin typeface="Calibri"/>
                <a:ea typeface="Calibri"/>
                <a:cs typeface="Calibri"/>
                <a:sym typeface="Calibri"/>
              </a:rPr>
              <a:t> attribute gives a suggested title for the element. </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behavior of this attribute will depend upon the element that carries it, although it is often displayed as a tooltip when cursor comes over the element or while the element is loading.</a:t>
            </a:r>
            <a:endParaRPr/>
          </a:p>
          <a:p>
            <a:pPr indent="0" lvl="0" marL="0" marR="0" rtl="0" algn="l">
              <a:spcBef>
                <a:spcPts val="0"/>
              </a:spcBef>
              <a:spcAft>
                <a:spcPts val="0"/>
              </a:spcAft>
              <a:buNone/>
            </a:pPr>
            <a:r>
              <a:rPr b="1" i="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&lt;title&gt;The title Attribute Example&lt;/title&gt;&lt;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&lt;h3 title="Hello HTML!"&gt;Titled Heading Tag Example&lt;/h3&gt;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nvSpPr>
        <p:spPr>
          <a:xfrm>
            <a:off x="228600" y="914400"/>
            <a:ext cx="8915400" cy="54476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The class Attribute</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class</a:t>
            </a:r>
            <a:r>
              <a:rPr lang="en-US" sz="1800">
                <a:solidFill>
                  <a:schemeClr val="dk1"/>
                </a:solidFill>
                <a:latin typeface="Calibri"/>
                <a:ea typeface="Calibri"/>
                <a:cs typeface="Calibri"/>
                <a:sym typeface="Calibri"/>
              </a:rPr>
              <a:t> attribute is used to associate an element with a style sheet, and specifies the class of element.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value of the attribute may also be a space-separated list of class names. For 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class="className1 className2 className3“</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The style Attribute</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style attribute allows you to specify Cascading Style Sheet (CSS) rules within the element.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&lt;title&gt;The style Attribute&lt;/title&gt;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&lt;body&gt;&lt;p style="font-family:arial; color:#FF0000;"&gt;Some text...&lt;/p&gt;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nvSpPr>
        <p:spPr>
          <a:xfrm>
            <a:off x="304800" y="685800"/>
            <a:ext cx="8686800"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HTML Formatting Tags</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Bold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Anything that appears within </a:t>
            </a:r>
            <a:r>
              <a:rPr b="1" lang="en-US" sz="1800">
                <a:solidFill>
                  <a:schemeClr val="dk1"/>
                </a:solidFill>
                <a:latin typeface="Calibri"/>
                <a:ea typeface="Calibri"/>
                <a:cs typeface="Calibri"/>
                <a:sym typeface="Calibri"/>
              </a:rPr>
              <a:t>&lt;b&gt;...&lt;/b&gt;</a:t>
            </a:r>
            <a:r>
              <a:rPr lang="en-US" sz="1800">
                <a:solidFill>
                  <a:schemeClr val="dk1"/>
                </a:solidFill>
                <a:latin typeface="Calibri"/>
                <a:ea typeface="Calibri"/>
                <a:cs typeface="Calibri"/>
                <a:sym typeface="Calibri"/>
              </a:rPr>
              <a:t> element, is displayed in bold as shown below:</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&lt;title&gt;Bold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&lt;p&gt;Welcome to &lt;b&gt;LPU&lt;/b&gt; Jalandhar&lt;/p&gt;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nvSpPr>
        <p:spPr>
          <a:xfrm>
            <a:off x="457201" y="914400"/>
            <a:ext cx="83820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Italic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Anything that appears within </a:t>
            </a:r>
            <a:r>
              <a:rPr b="1" lang="en-US" sz="1800">
                <a:solidFill>
                  <a:schemeClr val="dk1"/>
                </a:solidFill>
                <a:latin typeface="Calibri"/>
                <a:ea typeface="Calibri"/>
                <a:cs typeface="Calibri"/>
                <a:sym typeface="Calibri"/>
              </a:rPr>
              <a:t>&lt;i&gt;...&lt;/i&gt;</a:t>
            </a:r>
            <a:r>
              <a:rPr lang="en-US" sz="1800">
                <a:solidFill>
                  <a:schemeClr val="dk1"/>
                </a:solidFill>
                <a:latin typeface="Calibri"/>
                <a:ea typeface="Calibri"/>
                <a:cs typeface="Calibri"/>
                <a:sym typeface="Calibri"/>
              </a:rPr>
              <a:t> element is displayed in italicized as shown below:</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&lt;title&gt;Italic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&lt;p&gt;Welcome to  &lt;i&gt;LPU&lt;/i&gt; Jalandhar&lt;/p&gt;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nvSpPr>
        <p:spPr>
          <a:xfrm>
            <a:off x="304800" y="990600"/>
            <a:ext cx="85344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Underlined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Anything that appears within </a:t>
            </a:r>
            <a:r>
              <a:rPr b="1" lang="en-US" sz="1800">
                <a:solidFill>
                  <a:schemeClr val="dk1"/>
                </a:solidFill>
                <a:latin typeface="Calibri"/>
                <a:ea typeface="Calibri"/>
                <a:cs typeface="Calibri"/>
                <a:sym typeface="Calibri"/>
              </a:rPr>
              <a:t>&lt;u&gt;...&lt;/u&gt;</a:t>
            </a:r>
            <a:r>
              <a:rPr lang="en-US" sz="1800">
                <a:solidFill>
                  <a:schemeClr val="dk1"/>
                </a:solidFill>
                <a:latin typeface="Calibri"/>
                <a:ea typeface="Calibri"/>
                <a:cs typeface="Calibri"/>
                <a:sym typeface="Calibri"/>
              </a:rPr>
              <a:t> element, is displayed with underline as shown below:</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&lt;title&gt;Underlined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&lt;p&gt;Welcome to &lt;u&gt;LPU&lt;/u&gt; Jalandhar&lt;/p&gt;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nvSpPr>
        <p:spPr>
          <a:xfrm>
            <a:off x="228601" y="914400"/>
            <a:ext cx="85344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Strike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Anything that appears within </a:t>
            </a:r>
            <a:r>
              <a:rPr b="1" lang="en-US" sz="1800">
                <a:solidFill>
                  <a:schemeClr val="dk1"/>
                </a:solidFill>
                <a:latin typeface="Calibri"/>
                <a:ea typeface="Calibri"/>
                <a:cs typeface="Calibri"/>
                <a:sym typeface="Calibri"/>
              </a:rPr>
              <a:t>&lt;strike&gt;...&lt;/strike&gt;</a:t>
            </a:r>
            <a:r>
              <a:rPr lang="en-US" sz="1800">
                <a:solidFill>
                  <a:schemeClr val="dk1"/>
                </a:solidFill>
                <a:latin typeface="Calibri"/>
                <a:ea typeface="Calibri"/>
                <a:cs typeface="Calibri"/>
                <a:sym typeface="Calibri"/>
              </a:rPr>
              <a:t> element is displayed with strikethrough, which is a thin line through the text as shown below:</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&lt;title&gt;Strike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&lt;p&gt;This is completely &lt;strike&gt;bad&lt;/strike&gt;idea&lt;/p&gt;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nvSpPr>
        <p:spPr>
          <a:xfrm>
            <a:off x="304801" y="838200"/>
            <a:ext cx="838200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Superscript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content of a </a:t>
            </a:r>
            <a:r>
              <a:rPr b="1" lang="en-US" sz="1800">
                <a:solidFill>
                  <a:schemeClr val="dk1"/>
                </a:solidFill>
                <a:latin typeface="Calibri"/>
                <a:ea typeface="Calibri"/>
                <a:cs typeface="Calibri"/>
                <a:sym typeface="Calibri"/>
              </a:rPr>
              <a:t>&lt;sup&gt;...&lt;/sup&gt;</a:t>
            </a:r>
            <a:r>
              <a:rPr lang="en-US" sz="1800">
                <a:solidFill>
                  <a:schemeClr val="dk1"/>
                </a:solidFill>
                <a:latin typeface="Calibri"/>
                <a:ea typeface="Calibri"/>
                <a:cs typeface="Calibri"/>
                <a:sym typeface="Calibri"/>
              </a:rPr>
              <a:t> element is written in superscript; the font size used is the same size as the characters surrounding it but is displayed half a character's height above the other characters.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&lt;title&gt;Superscript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&lt;p&gt;An example of &lt;sup&gt;superscript&lt;/sup&gt; formatting tag&lt;/p&gt;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nvSpPr>
        <p:spPr>
          <a:xfrm>
            <a:off x="304800" y="1066800"/>
            <a:ext cx="8534401"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Subscript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content of a </a:t>
            </a:r>
            <a:r>
              <a:rPr b="1" lang="en-US" sz="1800">
                <a:solidFill>
                  <a:schemeClr val="dk1"/>
                </a:solidFill>
                <a:latin typeface="Calibri"/>
                <a:ea typeface="Calibri"/>
                <a:cs typeface="Calibri"/>
                <a:sym typeface="Calibri"/>
              </a:rPr>
              <a:t>&lt;sub&gt;...&lt;/sub&gt;</a:t>
            </a:r>
            <a:r>
              <a:rPr lang="en-US" sz="1800">
                <a:solidFill>
                  <a:schemeClr val="dk1"/>
                </a:solidFill>
                <a:latin typeface="Calibri"/>
                <a:ea typeface="Calibri"/>
                <a:cs typeface="Calibri"/>
                <a:sym typeface="Calibri"/>
              </a:rPr>
              <a:t> element is written in subscript; the font size used is the same as the characters surrounding it, but is displayed half a character's height beneath the other characters.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&lt;title&gt;Subscript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&lt;p&gt;An example of &lt;sub&gt;subscript&lt;/sub&gt; formatting tag&lt;/p&gt;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nvSpPr>
        <p:spPr>
          <a:xfrm>
            <a:off x="228601" y="838200"/>
            <a:ext cx="876300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Inserted  and Deleted Text</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Anything that appears within </a:t>
            </a:r>
            <a:r>
              <a:rPr b="1" lang="en-US" sz="1800">
                <a:solidFill>
                  <a:schemeClr val="dk1"/>
                </a:solidFill>
                <a:latin typeface="Calibri"/>
                <a:ea typeface="Calibri"/>
                <a:cs typeface="Calibri"/>
                <a:sym typeface="Calibri"/>
              </a:rPr>
              <a:t>&lt;ins&gt;...&lt;/ins&gt;</a:t>
            </a:r>
            <a:r>
              <a:rPr lang="en-US" sz="1800">
                <a:solidFill>
                  <a:schemeClr val="dk1"/>
                </a:solidFill>
                <a:latin typeface="Calibri"/>
                <a:ea typeface="Calibri"/>
                <a:cs typeface="Calibri"/>
                <a:sym typeface="Calibri"/>
              </a:rPr>
              <a:t> element is displayed as inserted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Anything that appears within </a:t>
            </a:r>
            <a:r>
              <a:rPr b="1" lang="en-US" sz="1800">
                <a:solidFill>
                  <a:schemeClr val="dk1"/>
                </a:solidFill>
                <a:latin typeface="Calibri"/>
                <a:ea typeface="Calibri"/>
                <a:cs typeface="Calibri"/>
                <a:sym typeface="Calibri"/>
              </a:rPr>
              <a:t>&lt;del&gt;...&lt;/del&gt;</a:t>
            </a:r>
            <a:r>
              <a:rPr lang="en-US" sz="1800">
                <a:solidFill>
                  <a:schemeClr val="dk1"/>
                </a:solidFill>
                <a:latin typeface="Calibri"/>
                <a:ea typeface="Calibri"/>
                <a:cs typeface="Calibri"/>
                <a:sym typeface="Calibri"/>
              </a:rPr>
              <a:t> element, is displayed as deleted text.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&lt;title&gt;Inserted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&lt;p&gt;This is an example of &lt;del&gt;HTML&lt;/del&gt; and &lt;ins&gt;JavaScript&lt;/ins&gt;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txBox="1"/>
          <p:nvPr/>
        </p:nvSpPr>
        <p:spPr>
          <a:xfrm>
            <a:off x="304800" y="838200"/>
            <a:ext cx="86106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Larger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content of the </a:t>
            </a:r>
            <a:r>
              <a:rPr b="1" lang="en-US" sz="1800">
                <a:solidFill>
                  <a:schemeClr val="dk1"/>
                </a:solidFill>
                <a:latin typeface="Calibri"/>
                <a:ea typeface="Calibri"/>
                <a:cs typeface="Calibri"/>
                <a:sym typeface="Calibri"/>
              </a:rPr>
              <a:t>&lt;big&gt;...&lt;/big&gt;</a:t>
            </a:r>
            <a:r>
              <a:rPr lang="en-US" sz="1800">
                <a:solidFill>
                  <a:schemeClr val="dk1"/>
                </a:solidFill>
                <a:latin typeface="Calibri"/>
                <a:ea typeface="Calibri"/>
                <a:cs typeface="Calibri"/>
                <a:sym typeface="Calibri"/>
              </a:rPr>
              <a:t> element is displayed one font size larger than the rest of the text surrounding it as shown below:</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&lt;title&gt;Larger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&lt;p&gt;Welcome to &lt;big&gt;LPU&lt;/big&gt; Jalandhar&lt;/p&gt;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6"/>
          <p:cNvSpPr txBox="1"/>
          <p:nvPr/>
        </p:nvSpPr>
        <p:spPr>
          <a:xfrm>
            <a:off x="381000" y="990600"/>
            <a:ext cx="85344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Smaller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content of the </a:t>
            </a:r>
            <a:r>
              <a:rPr b="1" lang="en-US" sz="1800">
                <a:solidFill>
                  <a:schemeClr val="dk1"/>
                </a:solidFill>
                <a:latin typeface="Calibri"/>
                <a:ea typeface="Calibri"/>
                <a:cs typeface="Calibri"/>
                <a:sym typeface="Calibri"/>
              </a:rPr>
              <a:t>&lt;small&gt;...&lt;/small&gt;</a:t>
            </a:r>
            <a:r>
              <a:rPr lang="en-US" sz="1800">
                <a:solidFill>
                  <a:schemeClr val="dk1"/>
                </a:solidFill>
                <a:latin typeface="Calibri"/>
                <a:ea typeface="Calibri"/>
                <a:cs typeface="Calibri"/>
                <a:sym typeface="Calibri"/>
              </a:rPr>
              <a:t> element is displayed one font size smaller than the rest of the text surrounding it as shown below:</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&lt;title&gt;Smaller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&lt;p&gt;Example of &lt;small&gt;small&lt;/small&gt; formatting tag&lt;/p&gt;&lt;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7"/>
          <p:cNvSpPr txBox="1"/>
          <p:nvPr/>
        </p:nvSpPr>
        <p:spPr>
          <a:xfrm>
            <a:off x="381000" y="990600"/>
            <a:ext cx="8534400"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Grouping Content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&lt;div&gt;</a:t>
            </a:r>
            <a:r>
              <a:rPr lang="en-US" sz="1800">
                <a:solidFill>
                  <a:schemeClr val="dk1"/>
                </a:solidFill>
                <a:latin typeface="Calibri"/>
                <a:ea typeface="Calibri"/>
                <a:cs typeface="Calibri"/>
                <a:sym typeface="Calibri"/>
              </a:rPr>
              <a:t> and </a:t>
            </a:r>
            <a:r>
              <a:rPr b="1" lang="en-US" sz="1800">
                <a:solidFill>
                  <a:schemeClr val="dk1"/>
                </a:solidFill>
                <a:latin typeface="Calibri"/>
                <a:ea typeface="Calibri"/>
                <a:cs typeface="Calibri"/>
                <a:sym typeface="Calibri"/>
              </a:rPr>
              <a:t>&lt;span&gt;</a:t>
            </a:r>
            <a:r>
              <a:rPr lang="en-US" sz="1800">
                <a:solidFill>
                  <a:schemeClr val="dk1"/>
                </a:solidFill>
                <a:latin typeface="Calibri"/>
                <a:ea typeface="Calibri"/>
                <a:cs typeface="Calibri"/>
                <a:sym typeface="Calibri"/>
              </a:rPr>
              <a:t> elements allow you to group together several elements to create sections or subsections of a page.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&lt;title&gt;Div Tag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&lt;div align="middle"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 Welcome to HTML&lt;/p&gt;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 Welcome to JavaScript&lt;/p&gt;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 Welcome to CSS&lt;/p&gt;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&lt;/div&gt;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8"/>
          <p:cNvSpPr txBox="1"/>
          <p:nvPr/>
        </p:nvSpPr>
        <p:spPr>
          <a:xfrm>
            <a:off x="304801" y="914400"/>
            <a:ext cx="861060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 &lt;span&gt; element, on the other hand, can be used to group inline elements only. So, if you have a part of a sentence or paragraph which you want to group together, you could use the &lt;span&gt; element as follows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&lt;title&gt;Span Tag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&lt;p&gt;This is the example of &lt;span style="color:green"&gt;span tag&lt;/span&gt; and the &lt;span style="color:red"&gt;div tag&lt;/span&gt; alongwith CSS&lt;/p&gt;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nvSpPr>
        <p:spPr>
          <a:xfrm>
            <a:off x="304800" y="914400"/>
            <a:ext cx="8534400"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Emphasized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Anything that appears within </a:t>
            </a:r>
            <a:r>
              <a:rPr b="1" lang="en-US" sz="1800">
                <a:solidFill>
                  <a:schemeClr val="dk1"/>
                </a:solidFill>
                <a:latin typeface="Calibri"/>
                <a:ea typeface="Calibri"/>
                <a:cs typeface="Calibri"/>
                <a:sym typeface="Calibri"/>
              </a:rPr>
              <a:t>&lt;em&gt;...&lt;/em&gt;</a:t>
            </a:r>
            <a:r>
              <a:rPr lang="en-US" sz="1800">
                <a:solidFill>
                  <a:schemeClr val="dk1"/>
                </a:solidFill>
                <a:latin typeface="Calibri"/>
                <a:ea typeface="Calibri"/>
                <a:cs typeface="Calibri"/>
                <a:sym typeface="Calibri"/>
              </a:rPr>
              <a:t> element is displayed as emphasized text.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&lt;title&gt;Emphasized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&lt;p&gt;This is an example of &lt;em&gt;emphasized&lt;/em&gt; tag&lt;/p&gt;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nvSpPr>
        <p:spPr>
          <a:xfrm>
            <a:off x="304800" y="914400"/>
            <a:ext cx="85344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Marked Text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Anything that appears with-in </a:t>
            </a:r>
            <a:r>
              <a:rPr b="1" lang="en-US" sz="1800">
                <a:solidFill>
                  <a:schemeClr val="dk1"/>
                </a:solidFill>
                <a:latin typeface="Calibri"/>
                <a:ea typeface="Calibri"/>
                <a:cs typeface="Calibri"/>
                <a:sym typeface="Calibri"/>
              </a:rPr>
              <a:t>&lt;mark&gt;...&lt;/mark&gt;</a:t>
            </a:r>
            <a:r>
              <a:rPr lang="en-US" sz="1800">
                <a:solidFill>
                  <a:schemeClr val="dk1"/>
                </a:solidFill>
                <a:latin typeface="Calibri"/>
                <a:ea typeface="Calibri"/>
                <a:cs typeface="Calibri"/>
                <a:sym typeface="Calibri"/>
              </a:rPr>
              <a:t> element, is displayed as marked with yellow ink.</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&lt;title&gt;Marked Text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&lt;p&gt;This is an example of &lt;mark&gt;marked&lt;/mark&gt; tag&lt;/p&gt;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1"/>
          <p:cNvSpPr txBox="1"/>
          <p:nvPr/>
        </p:nvSpPr>
        <p:spPr>
          <a:xfrm>
            <a:off x="228601" y="838200"/>
            <a:ext cx="868680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Text Direction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&lt;bdo&gt;...&lt;/bdo&gt;</a:t>
            </a:r>
            <a:r>
              <a:rPr lang="en-US" sz="1800">
                <a:solidFill>
                  <a:schemeClr val="dk1"/>
                </a:solidFill>
                <a:latin typeface="Calibri"/>
                <a:ea typeface="Calibri"/>
                <a:cs typeface="Calibri"/>
                <a:sym typeface="Calibri"/>
              </a:rPr>
              <a:t> element stands for Bi-Directional Override and it is used to override the current text direction.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&lt;title&gt;Text Direction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&lt;p&gt;This text will go left to right.&lt;/p&gt;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&lt;p&gt;&lt;bdo dir="rtl"&gt;This text will go right to left.&lt;/bdo&gt;&lt;/p&gt;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2"/>
          <p:cNvSpPr txBox="1"/>
          <p:nvPr/>
        </p:nvSpPr>
        <p:spPr>
          <a:xfrm>
            <a:off x="228600" y="838200"/>
            <a:ext cx="8610600"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Short Quotations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&lt;q&gt;...&lt;/q&gt;</a:t>
            </a:r>
            <a:r>
              <a:rPr lang="en-US" sz="1800">
                <a:solidFill>
                  <a:schemeClr val="dk1"/>
                </a:solidFill>
                <a:latin typeface="Calibri"/>
                <a:ea typeface="Calibri"/>
                <a:cs typeface="Calibri"/>
                <a:sym typeface="Calibri"/>
              </a:rPr>
              <a:t> element is used when you want to add a double quote within a sentence.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&lt;title&gt;Double Quote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&lt;p&gt;Welcome to  &lt;q&gt;LPU&lt;/q&gt;Jalandhar&lt;/p&gt;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3"/>
          <p:cNvSpPr txBox="1"/>
          <p:nvPr/>
        </p:nvSpPr>
        <p:spPr>
          <a:xfrm>
            <a:off x="381001" y="990600"/>
            <a:ext cx="845820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Computer Code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Any programming code to appear on a Web page should be placed inside </a:t>
            </a:r>
            <a:r>
              <a:rPr b="1" lang="en-US" sz="1800">
                <a:solidFill>
                  <a:schemeClr val="dk1"/>
                </a:solidFill>
                <a:latin typeface="Calibri"/>
                <a:ea typeface="Calibri"/>
                <a:cs typeface="Calibri"/>
                <a:sym typeface="Calibri"/>
              </a:rPr>
              <a:t>&lt;code&gt;...&lt;/code&gt;</a:t>
            </a:r>
            <a:r>
              <a:rPr lang="en-US" sz="1800">
                <a:solidFill>
                  <a:schemeClr val="dk1"/>
                </a:solidFill>
                <a:latin typeface="Calibri"/>
                <a:ea typeface="Calibri"/>
                <a:cs typeface="Calibri"/>
                <a:sym typeface="Calibri"/>
              </a:rPr>
              <a:t> tags. Usually the content of the &lt;code&gt; element is presented in a monospaced font, just like the code in most programming books.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&lt;title&gt;Computer Code Example&lt;/title&gt;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&lt;p&gt;Regular text. &lt;code&gt;This is code.&lt;/code&gt; Regular text.&lt;/p&gt;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