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hyperlink" Target="http://www.w3schools.com/jsref/jsref_getminutes.asp" TargetMode="External"/><Relationship Id="rId3" Type="http://schemas.openxmlformats.org/officeDocument/2006/relationships/hyperlink" Target="http://www.w3schools.com/jsref/jsref_getdate.asp" TargetMode="External"/><Relationship Id="rId7" Type="http://schemas.openxmlformats.org/officeDocument/2006/relationships/hyperlink" Target="http://www.w3schools.com/jsref/jsref_getmilliseconds.asp"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www.w3schools.com/jsref/jsref_gethours.asp" TargetMode="External"/><Relationship Id="rId11" Type="http://schemas.openxmlformats.org/officeDocument/2006/relationships/hyperlink" Target="http://www.w3schools.com/jsref/jsref_gettime.asp" TargetMode="External"/><Relationship Id="rId5" Type="http://schemas.openxmlformats.org/officeDocument/2006/relationships/hyperlink" Target="http://www.w3schools.com/jsref/jsref_getfullyear.asp" TargetMode="External"/><Relationship Id="rId10" Type="http://schemas.openxmlformats.org/officeDocument/2006/relationships/hyperlink" Target="http://www.w3schools.com/jsref/jsref_getseconds.asp" TargetMode="External"/><Relationship Id="rId4" Type="http://schemas.openxmlformats.org/officeDocument/2006/relationships/hyperlink" Target="http://www.w3schools.com/jsref/jsref_getday.asp" TargetMode="External"/><Relationship Id="rId9" Type="http://schemas.openxmlformats.org/officeDocument/2006/relationships/hyperlink" Target="http://www.w3schools.com/jsref/jsref_getmonth.asp"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www.w3schools.com/jsref/jsref_getutcmilliseconds.asp" TargetMode="External"/><Relationship Id="rId3" Type="http://schemas.openxmlformats.org/officeDocument/2006/relationships/hyperlink" Target="http://www.w3schools.com/jsref/jsref_gettimezoneoffset.asp" TargetMode="External"/><Relationship Id="rId7" Type="http://schemas.openxmlformats.org/officeDocument/2006/relationships/hyperlink" Target="http://www.w3schools.com/jsref/jsref_getutchours.asp" TargetMode="External"/><Relationship Id="rId12" Type="http://schemas.openxmlformats.org/officeDocument/2006/relationships/hyperlink" Target="http://www.w3schools.com/jsref/jsref_now.asp"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hyperlink" Target="http://www.w3schools.com/jsref/jsref_getutcfullyear.asp" TargetMode="External"/><Relationship Id="rId11" Type="http://schemas.openxmlformats.org/officeDocument/2006/relationships/hyperlink" Target="http://www.w3schools.com/jsref/jsref_getutcseconds.asp" TargetMode="External"/><Relationship Id="rId5" Type="http://schemas.openxmlformats.org/officeDocument/2006/relationships/hyperlink" Target="http://www.w3schools.com/jsref/jsref_getutcday.asp" TargetMode="External"/><Relationship Id="rId10" Type="http://schemas.openxmlformats.org/officeDocument/2006/relationships/hyperlink" Target="http://www.w3schools.com/jsref/jsref_getutcmonth.asp" TargetMode="External"/><Relationship Id="rId4" Type="http://schemas.openxmlformats.org/officeDocument/2006/relationships/hyperlink" Target="http://www.w3schools.com/jsref/jsref_getutcdate.asp" TargetMode="External"/><Relationship Id="rId9" Type="http://schemas.openxmlformats.org/officeDocument/2006/relationships/hyperlink" Target="http://www.w3schools.com/jsref/jsref_getutcminutes.asp"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www.w3schools.com/jsref/jsref_setminutes.asp" TargetMode="External"/><Relationship Id="rId13" Type="http://schemas.openxmlformats.org/officeDocument/2006/relationships/hyperlink" Target="http://www.w3schools.com/jsref/jsref_setutcfullyear.asp" TargetMode="External"/><Relationship Id="rId3" Type="http://schemas.openxmlformats.org/officeDocument/2006/relationships/hyperlink" Target="http://www.w3schools.com/jsref/jsref_parse.asp" TargetMode="External"/><Relationship Id="rId7" Type="http://schemas.openxmlformats.org/officeDocument/2006/relationships/hyperlink" Target="http://www.w3schools.com/jsref/jsref_setmilliseconds.asp" TargetMode="External"/><Relationship Id="rId12" Type="http://schemas.openxmlformats.org/officeDocument/2006/relationships/hyperlink" Target="http://www.w3schools.com/jsref/jsref_setutcdate.asp"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www.w3schools.com/jsref/jsref_sethours.asp" TargetMode="External"/><Relationship Id="rId11" Type="http://schemas.openxmlformats.org/officeDocument/2006/relationships/hyperlink" Target="http://www.w3schools.com/jsref/jsref_settime.asp" TargetMode="External"/><Relationship Id="rId5" Type="http://schemas.openxmlformats.org/officeDocument/2006/relationships/hyperlink" Target="http://www.w3schools.com/jsref/jsref_setfullyear.asp" TargetMode="External"/><Relationship Id="rId10" Type="http://schemas.openxmlformats.org/officeDocument/2006/relationships/hyperlink" Target="http://www.w3schools.com/jsref/jsref_setseconds.asp" TargetMode="External"/><Relationship Id="rId4" Type="http://schemas.openxmlformats.org/officeDocument/2006/relationships/hyperlink" Target="http://www.w3schools.com/jsref/jsref_setdate.asp" TargetMode="External"/><Relationship Id="rId9" Type="http://schemas.openxmlformats.org/officeDocument/2006/relationships/hyperlink" Target="http://www.w3schools.com/jsref/jsref_setmonth.asp"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www.w3schools.com/jsref/jsref_todatestring.asp" TargetMode="External"/><Relationship Id="rId3" Type="http://schemas.openxmlformats.org/officeDocument/2006/relationships/hyperlink" Target="http://www.w3schools.com/jsref/jsref_setutchours.asp" TargetMode="External"/><Relationship Id="rId7" Type="http://schemas.openxmlformats.org/officeDocument/2006/relationships/hyperlink" Target="http://www.w3schools.com/jsref/jsref_setutcseconds.asp"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hyperlink" Target="http://www.w3schools.com/jsref/jsref_setutcmonth.asp" TargetMode="External"/><Relationship Id="rId5" Type="http://schemas.openxmlformats.org/officeDocument/2006/relationships/hyperlink" Target="http://www.w3schools.com/jsref/jsref_setutcminutes.asp" TargetMode="External"/><Relationship Id="rId10" Type="http://schemas.openxmlformats.org/officeDocument/2006/relationships/hyperlink" Target="http://www.w3schools.com/jsref/jsref_tojson.asp" TargetMode="External"/><Relationship Id="rId4" Type="http://schemas.openxmlformats.org/officeDocument/2006/relationships/hyperlink" Target="http://www.w3schools.com/jsref/jsref_setutcmilliseconds.asp" TargetMode="External"/><Relationship Id="rId9" Type="http://schemas.openxmlformats.org/officeDocument/2006/relationships/hyperlink" Target="http://www.w3schools.com/jsref/jsref_toisostring.asp"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www.w3schools.com/jsref/jsref_toutcstring.asp" TargetMode="External"/><Relationship Id="rId3" Type="http://schemas.openxmlformats.org/officeDocument/2006/relationships/hyperlink" Target="http://www.w3schools.com/jsref/jsref_tolocaledatestring.asp" TargetMode="External"/><Relationship Id="rId7" Type="http://schemas.openxmlformats.org/officeDocument/2006/relationships/hyperlink" Target="http://www.w3schools.com/jsref/jsref_totimestring.asp"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hyperlink" Target="http://www.w3schools.com/jsref/jsref_tostring_date.asp" TargetMode="External"/><Relationship Id="rId5" Type="http://schemas.openxmlformats.org/officeDocument/2006/relationships/hyperlink" Target="http://www.w3schools.com/jsref/jsref_tolocalestring.asp" TargetMode="External"/><Relationship Id="rId10" Type="http://schemas.openxmlformats.org/officeDocument/2006/relationships/hyperlink" Target="http://www.w3schools.com/jsref/jsref_valueof_date.asp" TargetMode="External"/><Relationship Id="rId4" Type="http://schemas.openxmlformats.org/officeDocument/2006/relationships/hyperlink" Target="http://www.w3schools.com/jsref/jsref_tolocaletimestring.asp" TargetMode="External"/><Relationship Id="rId9" Type="http://schemas.openxmlformats.org/officeDocument/2006/relationships/hyperlink" Target="http://www.w3schools.com/jsref/jsref_utc.asp"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381000" y="685800"/>
            <a:ext cx="8534400" cy="60631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Calibri"/>
                <a:ea typeface="Calibri"/>
                <a:cs typeface="Calibri"/>
                <a:sym typeface="Calibri"/>
              </a:rPr>
              <a:t>JavaScript</a:t>
            </a:r>
            <a:endParaRPr dirty="0"/>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dirty="0">
                <a:solidFill>
                  <a:schemeClr val="dk1"/>
                </a:solidFill>
                <a:latin typeface="Calibri"/>
                <a:ea typeface="Calibri"/>
                <a:cs typeface="Calibri"/>
                <a:sym typeface="Calibri"/>
              </a:rPr>
              <a:t>JavaScript is a dynamic computer programming language. It is lightweight and most commonly used as a part of web pages, whose implementations allow client-side script to interact with the user and make dynamic pages. It is an interpreted programming language with object-oriented capabilities.</a:t>
            </a:r>
            <a:endParaRPr dirty="0"/>
          </a:p>
          <a:p>
            <a:pPr marL="0" marR="0" lvl="0" indent="0" algn="just"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Client-side JavaScript</a:t>
            </a:r>
            <a:endParaRPr dirty="0"/>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Client-side JavaScript is the most common form of the language. The script should be included in or referenced by an HTML document for the code to be interpreted by the browser.</a:t>
            </a:r>
            <a:endParaRPr dirty="0"/>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It means that a web page need not be a static HTML, but can include programs that interact with the user, control the browser, and dynamically create HTML content.</a:t>
            </a:r>
            <a:endParaRPr dirty="0"/>
          </a:p>
          <a:p>
            <a:pPr marL="0" marR="0" lvl="0" indent="0" algn="just"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89" name="Google Shape;89;p13"/>
          <p:cNvSpPr/>
          <p:nvPr/>
        </p:nvSpPr>
        <p:spPr>
          <a:xfrm>
            <a:off x="381000" y="1066800"/>
            <a:ext cx="8382000" cy="467820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a:t>
            </a:r>
            <a:br>
              <a:rPr lang="en-US" sz="1800">
                <a:solidFill>
                  <a:schemeClr val="dk1"/>
                </a:solidFill>
                <a:latin typeface="Times New Roman"/>
                <a:ea typeface="Times New Roman"/>
                <a:cs typeface="Times New Roman"/>
                <a:sym typeface="Times New Roman"/>
              </a:rPr>
            </a:br>
            <a:endParaRPr sz="1800" b="1" u="sng">
              <a:solidFill>
                <a:srgbClr val="00808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1" i="0" u="sng" strike="noStrike" cap="none">
              <a:solidFill>
                <a:srgbClr val="00808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u="sng">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300"/>
              <a:buFont typeface="Calibri"/>
              <a:buNone/>
            </a:pPr>
            <a:endParaRPr sz="1300" b="1" i="0" u="sng" strike="noStrike" cap="none">
              <a:solidFill>
                <a:srgbClr val="00808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en-US" sz="8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
        <p:nvSpPr>
          <p:cNvPr id="90" name="Google Shape;90;p13"/>
          <p:cNvSpPr txBox="1"/>
          <p:nvPr/>
        </p:nvSpPr>
        <p:spPr>
          <a:xfrm>
            <a:off x="533400" y="1524000"/>
            <a:ext cx="8382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p:nvPr/>
        </p:nvSpPr>
        <p:spPr>
          <a:xfrm>
            <a:off x="228601" y="609600"/>
            <a:ext cx="8610600" cy="78483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Syntax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can be implemented using JavaScript statements that are placed within the </a:t>
            </a:r>
            <a:r>
              <a:rPr lang="en-US" sz="1800" b="1">
                <a:solidFill>
                  <a:schemeClr val="dk1"/>
                </a:solidFill>
                <a:latin typeface="Calibri"/>
                <a:ea typeface="Calibri"/>
                <a:cs typeface="Calibri"/>
                <a:sym typeface="Calibri"/>
              </a:rPr>
              <a:t>&lt;script&gt;... &lt;/script&gt;</a:t>
            </a:r>
            <a:r>
              <a:rPr lang="en-US" sz="1800">
                <a:solidFill>
                  <a:schemeClr val="dk1"/>
                </a:solidFill>
                <a:latin typeface="Calibri"/>
                <a:ea typeface="Calibri"/>
                <a:cs typeface="Calibri"/>
                <a:sym typeface="Calibri"/>
              </a:rPr>
              <a:t> HTML tags in a web page.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code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with type attribute: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JavaScript code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Where to place JavaScript?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JavaScript can be placed in the  &lt;head&gt; section of an HTML page.</a:t>
            </a:r>
            <a:endParaRPr/>
          </a:p>
          <a:p>
            <a:pPr marL="0" marR="0" lvl="0" indent="-11430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JavaScript can be placed in the  &lt;body&gt; section of an HTML page.</a:t>
            </a:r>
            <a:endParaRPr/>
          </a:p>
          <a:p>
            <a:pPr marL="0" marR="0" lvl="0" indent="-114300" algn="l" rtl="0">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JavaScript can also be placed in external files and then linked to HTML Page.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p:nvPr/>
        </p:nvSpPr>
        <p:spPr>
          <a:xfrm>
            <a:off x="304800" y="609600"/>
            <a:ext cx="8534401"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JavaScript in the Head Section</a:t>
            </a:r>
            <a:endParaRPr dirty="0"/>
          </a:p>
          <a:p>
            <a:pPr marL="0" marR="0" lvl="0" indent="0" algn="l" rtl="0">
              <a:spcBef>
                <a:spcPts val="0"/>
              </a:spcBef>
              <a:spcAft>
                <a:spcPts val="0"/>
              </a:spcAft>
              <a:buNone/>
            </a:pP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&lt;!DOCTYPE html&gt;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&lt;html&gt;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&lt;head&gt;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&lt;script&gt;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function </a:t>
            </a:r>
            <a:r>
              <a:rPr lang="en-US" sz="1800" dirty="0" err="1">
                <a:solidFill>
                  <a:schemeClr val="dk1"/>
                </a:solidFill>
                <a:latin typeface="Calibri"/>
                <a:ea typeface="Calibri"/>
                <a:cs typeface="Calibri"/>
                <a:sym typeface="Calibri"/>
              </a:rPr>
              <a:t>abc</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document.getElementById</a:t>
            </a: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ab</a:t>
            </a: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innerHTML</a:t>
            </a:r>
            <a:r>
              <a:rPr lang="en-US" sz="1800" dirty="0">
                <a:solidFill>
                  <a:schemeClr val="dk1"/>
                </a:solidFill>
                <a:latin typeface="Calibri"/>
                <a:ea typeface="Calibri"/>
                <a:cs typeface="Calibri"/>
                <a:sym typeface="Calibri"/>
              </a:rPr>
              <a:t> = "LPU expects some better placements      out of you";</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&lt;/script&gt;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&lt;/head&gt;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&lt;body&gt;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&lt;p id="</a:t>
            </a:r>
            <a:r>
              <a:rPr lang="en-US" sz="1800" dirty="0" err="1">
                <a:solidFill>
                  <a:schemeClr val="dk1"/>
                </a:solidFill>
                <a:latin typeface="Calibri"/>
                <a:ea typeface="Calibri"/>
                <a:cs typeface="Calibri"/>
                <a:sym typeface="Calibri"/>
              </a:rPr>
              <a:t>ab</a:t>
            </a:r>
            <a:r>
              <a:rPr lang="en-US" sz="1800" dirty="0">
                <a:solidFill>
                  <a:schemeClr val="dk1"/>
                </a:solidFill>
                <a:latin typeface="Calibri"/>
                <a:ea typeface="Calibri"/>
                <a:cs typeface="Calibri"/>
                <a:sym typeface="Calibri"/>
              </a:rPr>
              <a:t>"&gt;Welcome to LPU&lt;/p&gt;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&lt;input type="submit" </a:t>
            </a:r>
            <a:r>
              <a:rPr lang="en-US" sz="1800">
                <a:solidFill>
                  <a:schemeClr val="dk1"/>
                </a:solidFill>
                <a:latin typeface="Calibri"/>
                <a:ea typeface="Calibri"/>
                <a:cs typeface="Calibri"/>
                <a:sym typeface="Calibri"/>
              </a:rPr>
              <a:t>onClick</a:t>
            </a: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abc</a:t>
            </a:r>
            <a:r>
              <a:rPr lang="en-US" sz="1800" dirty="0">
                <a:solidFill>
                  <a:schemeClr val="dk1"/>
                </a:solidFill>
                <a:latin typeface="Calibri"/>
                <a:ea typeface="Calibri"/>
                <a:cs typeface="Calibri"/>
                <a:sym typeface="Calibri"/>
              </a:rPr>
              <a: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&lt;/body&gt;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&lt;/html&gt;</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p:nvPr/>
        </p:nvSpPr>
        <p:spPr>
          <a:xfrm>
            <a:off x="152400" y="609600"/>
            <a:ext cx="8534400" cy="70173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JavaScript in Body Section</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&lt;!DOCTYPE html&gt;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&lt;html&gt;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&lt;head&gt;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&lt;/head&gt;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&lt;body&gt;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&lt;p id="</a:t>
            </a:r>
            <a:r>
              <a:rPr lang="en-US" sz="1800" dirty="0" err="1">
                <a:solidFill>
                  <a:schemeClr val="dk1"/>
                </a:solidFill>
                <a:latin typeface="Calibri"/>
                <a:ea typeface="Calibri"/>
                <a:cs typeface="Calibri"/>
                <a:sym typeface="Calibri"/>
              </a:rPr>
              <a:t>abc</a:t>
            </a:r>
            <a:r>
              <a:rPr lang="en-US" sz="1800" dirty="0">
                <a:solidFill>
                  <a:schemeClr val="dk1"/>
                </a:solidFill>
                <a:latin typeface="Calibri"/>
                <a:ea typeface="Calibri"/>
                <a:cs typeface="Calibri"/>
                <a:sym typeface="Calibri"/>
              </a:rPr>
              <a:t>"&gt;Welcome to LPU&lt;/p&gt;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&lt;input type="submit" </a:t>
            </a:r>
            <a:r>
              <a:rPr lang="en-US" sz="1800" dirty="0" err="1">
                <a:solidFill>
                  <a:schemeClr val="dk1"/>
                </a:solidFill>
                <a:latin typeface="Calibri"/>
                <a:ea typeface="Calibri"/>
                <a:cs typeface="Calibri"/>
                <a:sym typeface="Calibri"/>
              </a:rPr>
              <a:t>onclick</a:t>
            </a: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abc</a:t>
            </a:r>
            <a:r>
              <a:rPr lang="en-US" sz="1800" dirty="0">
                <a:solidFill>
                  <a:schemeClr val="dk1"/>
                </a:solidFill>
                <a:latin typeface="Calibri"/>
                <a:ea typeface="Calibri"/>
                <a:cs typeface="Calibri"/>
                <a:sym typeface="Calibri"/>
              </a:rPr>
              <a: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&lt;script&gt;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function </a:t>
            </a:r>
            <a:r>
              <a:rPr lang="en-US" sz="1800" dirty="0" err="1">
                <a:solidFill>
                  <a:schemeClr val="dk1"/>
                </a:solidFill>
                <a:latin typeface="Calibri"/>
                <a:ea typeface="Calibri"/>
                <a:cs typeface="Calibri"/>
                <a:sym typeface="Calibri"/>
              </a:rPr>
              <a:t>abc</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document.getElementById</a:t>
            </a: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abc</a:t>
            </a: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innerHTML</a:t>
            </a:r>
            <a:r>
              <a:rPr lang="en-US" sz="1800" dirty="0">
                <a:solidFill>
                  <a:schemeClr val="dk1"/>
                </a:solidFill>
                <a:latin typeface="Calibri"/>
                <a:ea typeface="Calibri"/>
                <a:cs typeface="Calibri"/>
                <a:sym typeface="Calibri"/>
              </a:rPr>
              <a:t> = "LPU expects some better placements      out of you";</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&lt;/script&gt;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&lt;/body&gt;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&lt;/html&gt;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NB: It is a good idea to place scripts at the bottom of the &lt;body&gt; element.</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        This can improve page load, because script compilation can slow down the display.</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p:nvPr/>
        </p:nvSpPr>
        <p:spPr>
          <a:xfrm>
            <a:off x="381000" y="762000"/>
            <a:ext cx="8534400" cy="72943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External JavaScript  (b.js)</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document.getElementById("abc").innerHTML = "LPU expects some better placements      out of you";</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a.html</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src=“b.js"&gt;&lt;/script&gt;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id="abc"&gt;Welcome to LPU&lt;/p&gt;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11" name="Google Shape;111;p17"/>
          <p:cNvSpPr txBox="1"/>
          <p:nvPr/>
        </p:nvSpPr>
        <p:spPr>
          <a:xfrm>
            <a:off x="228600" y="1371600"/>
            <a:ext cx="8915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p:nvPr/>
        </p:nvSpPr>
        <p:spPr>
          <a:xfrm>
            <a:off x="152400" y="457200"/>
            <a:ext cx="83058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Dialog Boxes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supports three important types of dialog boxes. These dialog boxes can be used to raise and alert, or to get confirmation on any input or to have a kind of input from the users.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Alert Dialog Box</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 alert dialog box is mostly used to give a warning message to the users. For example, if one input field requires to enter some text but the user does not provide any input, then as a part of validation, you can use an alert box to give a warning message.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Nonetheless, an alert box can still be used for friendlier messages. Alert box gives only one button "OK" to select and proceed.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p:nvPr/>
        </p:nvSpPr>
        <p:spPr>
          <a:xfrm>
            <a:off x="304800" y="762000"/>
            <a:ext cx="8610600" cy="60016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window.alert("Welcome to LPU");</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document.write("HTML Alert Dialog Box Example");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&lt;/html&gt; </a:t>
            </a:r>
            <a:br>
              <a:rPr lang="en-US" sz="1600">
                <a:solidFill>
                  <a:schemeClr val="dk1"/>
                </a:solidFill>
                <a:latin typeface="Calibri"/>
                <a:ea typeface="Calibri"/>
                <a:cs typeface="Calibri"/>
                <a:sym typeface="Calibri"/>
              </a:rPr>
            </a:br>
            <a:endParaRPr sz="16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4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4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p:nvPr/>
        </p:nvSpPr>
        <p:spPr>
          <a:xfrm>
            <a:off x="457200" y="685800"/>
            <a:ext cx="83058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Confirmation Dialog Box</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 confirmation dialog box is mostly used to take user's consent on any option. It displays a dialog box with two buttons: </a:t>
            </a:r>
            <a:r>
              <a:rPr lang="en-US" sz="1800" b="1">
                <a:solidFill>
                  <a:schemeClr val="dk1"/>
                </a:solidFill>
                <a:latin typeface="Calibri"/>
                <a:ea typeface="Calibri"/>
                <a:cs typeface="Calibri"/>
                <a:sym typeface="Calibri"/>
              </a:rPr>
              <a:t>OK</a:t>
            </a:r>
            <a:r>
              <a:rPr lang="en-US" sz="1800">
                <a:solidFill>
                  <a:schemeClr val="dk1"/>
                </a:solidFill>
                <a:latin typeface="Calibri"/>
                <a:ea typeface="Calibri"/>
                <a:cs typeface="Calibri"/>
                <a:sym typeface="Calibri"/>
              </a:rPr>
              <a:t> and </a:t>
            </a:r>
            <a:r>
              <a:rPr lang="en-US" sz="1800" b="1">
                <a:solidFill>
                  <a:schemeClr val="dk1"/>
                </a:solidFill>
                <a:latin typeface="Calibri"/>
                <a:ea typeface="Calibri"/>
                <a:cs typeface="Calibri"/>
                <a:sym typeface="Calibri"/>
              </a:rPr>
              <a:t>Cancel</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the user clicks on the OK button, the window method </a:t>
            </a:r>
            <a:r>
              <a:rPr lang="en-US" sz="1800" b="1">
                <a:solidFill>
                  <a:schemeClr val="dk1"/>
                </a:solidFill>
                <a:latin typeface="Calibri"/>
                <a:ea typeface="Calibri"/>
                <a:cs typeface="Calibri"/>
                <a:sym typeface="Calibri"/>
              </a:rPr>
              <a:t>confirm()</a:t>
            </a:r>
            <a:r>
              <a:rPr lang="en-US" sz="1800">
                <a:solidFill>
                  <a:schemeClr val="dk1"/>
                </a:solidFill>
                <a:latin typeface="Calibri"/>
                <a:ea typeface="Calibri"/>
                <a:cs typeface="Calibri"/>
                <a:sym typeface="Calibri"/>
              </a:rPr>
              <a:t> will return true. If the user clicks on the Cancel button, then </a:t>
            </a:r>
            <a:r>
              <a:rPr lang="en-US" sz="1800" b="1">
                <a:solidFill>
                  <a:schemeClr val="dk1"/>
                </a:solidFill>
                <a:latin typeface="Calibri"/>
                <a:ea typeface="Calibri"/>
                <a:cs typeface="Calibri"/>
                <a:sym typeface="Calibri"/>
              </a:rPr>
              <a:t>confirm()</a:t>
            </a:r>
            <a:r>
              <a:rPr lang="en-US" sz="1800">
                <a:solidFill>
                  <a:schemeClr val="dk1"/>
                </a:solidFill>
                <a:latin typeface="Calibri"/>
                <a:ea typeface="Calibri"/>
                <a:cs typeface="Calibri"/>
                <a:sym typeface="Calibri"/>
              </a:rPr>
              <a:t> returns false.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304800" y="609600"/>
            <a:ext cx="8382000" cy="62170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Times New Roman"/>
                <a:ea typeface="Times New Roman"/>
                <a:cs typeface="Times New Roman"/>
                <a:sym typeface="Times New Roman"/>
              </a:rPr>
              <a:t>Example</a:t>
            </a:r>
            <a:endParaRPr/>
          </a:p>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var retVal = confirm("Do you want to continue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if( retVal == true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document.write ("User wants to continue!");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return true;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else{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document.write ("User does not want to continue!");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return false;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p:nvPr/>
        </p:nvSpPr>
        <p:spPr>
          <a:xfrm>
            <a:off x="381000" y="762000"/>
            <a:ext cx="8229600" cy="51706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Prompt Dialog Box</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prompt dialog box is very useful when you want to pop-up a text box to get user input. Thus, it enables you to interact with the user. The user needs to fill in the field and then click OK.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This dialog box is displayed using a method called </a:t>
            </a:r>
            <a:r>
              <a:rPr lang="en-US" sz="1800" b="1">
                <a:solidFill>
                  <a:schemeClr val="dk1"/>
                </a:solidFill>
                <a:latin typeface="Calibri"/>
                <a:ea typeface="Calibri"/>
                <a:cs typeface="Calibri"/>
                <a:sym typeface="Calibri"/>
              </a:rPr>
              <a:t>prompt()</a:t>
            </a:r>
            <a:r>
              <a:rPr lang="en-US" sz="1800">
                <a:solidFill>
                  <a:schemeClr val="dk1"/>
                </a:solidFill>
                <a:latin typeface="Calibri"/>
                <a:ea typeface="Calibri"/>
                <a:cs typeface="Calibri"/>
                <a:sym typeface="Calibri"/>
              </a:rPr>
              <a:t> which takes two parameters: </a:t>
            </a:r>
            <a:endParaRPr/>
          </a:p>
          <a:p>
            <a:pPr marL="400050" marR="0" lvl="0" indent="-400050" algn="l" rtl="0">
              <a:spcBef>
                <a:spcPts val="0"/>
              </a:spcBef>
              <a:spcAft>
                <a:spcPts val="0"/>
              </a:spcAft>
              <a:buClr>
                <a:schemeClr val="dk1"/>
              </a:buClr>
              <a:buSzPts val="1800"/>
              <a:buFont typeface="Calibri"/>
              <a:buAutoNum type="romanLcParenBoth"/>
            </a:pPr>
            <a:r>
              <a:rPr lang="en-US" sz="1800">
                <a:solidFill>
                  <a:schemeClr val="dk1"/>
                </a:solidFill>
                <a:latin typeface="Calibri"/>
                <a:ea typeface="Calibri"/>
                <a:cs typeface="Calibri"/>
                <a:sym typeface="Calibri"/>
              </a:rPr>
              <a:t> a label which you want to display in the text box and</a:t>
            </a:r>
            <a:endParaRPr/>
          </a:p>
          <a:p>
            <a:pPr marL="400050" marR="0" lvl="0" indent="-400050" algn="l" rtl="0">
              <a:spcBef>
                <a:spcPts val="0"/>
              </a:spcBef>
              <a:spcAft>
                <a:spcPts val="0"/>
              </a:spcAft>
              <a:buClr>
                <a:schemeClr val="dk1"/>
              </a:buClr>
              <a:buSzPts val="1800"/>
              <a:buFont typeface="Calibri"/>
              <a:buAutoNum type="romanLcParenBoth"/>
            </a:pPr>
            <a:r>
              <a:rPr lang="en-US" sz="1800">
                <a:solidFill>
                  <a:schemeClr val="dk1"/>
                </a:solidFill>
                <a:latin typeface="Calibri"/>
                <a:ea typeface="Calibri"/>
                <a:cs typeface="Calibri"/>
                <a:sym typeface="Calibri"/>
              </a:rPr>
              <a:t> a default string to display in the text box.</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This dialog box has two buttons: </a:t>
            </a:r>
            <a:r>
              <a:rPr lang="en-US" sz="1800" b="1">
                <a:solidFill>
                  <a:schemeClr val="dk1"/>
                </a:solidFill>
                <a:latin typeface="Calibri"/>
                <a:ea typeface="Calibri"/>
                <a:cs typeface="Calibri"/>
                <a:sym typeface="Calibri"/>
              </a:rPr>
              <a:t>OK</a:t>
            </a:r>
            <a:r>
              <a:rPr lang="en-US" sz="1800">
                <a:solidFill>
                  <a:schemeClr val="dk1"/>
                </a:solidFill>
                <a:latin typeface="Calibri"/>
                <a:ea typeface="Calibri"/>
                <a:cs typeface="Calibri"/>
                <a:sym typeface="Calibri"/>
              </a:rPr>
              <a:t> and </a:t>
            </a:r>
            <a:r>
              <a:rPr lang="en-US" sz="1800" b="1">
                <a:solidFill>
                  <a:schemeClr val="dk1"/>
                </a:solidFill>
                <a:latin typeface="Calibri"/>
                <a:ea typeface="Calibri"/>
                <a:cs typeface="Calibri"/>
                <a:sym typeface="Calibri"/>
              </a:rPr>
              <a:t>Cancel</a:t>
            </a:r>
            <a:r>
              <a:rPr lang="en-US" sz="1800">
                <a:solidFill>
                  <a:schemeClr val="dk1"/>
                </a:solidFill>
                <a:latin typeface="Calibri"/>
                <a:ea typeface="Calibri"/>
                <a:cs typeface="Calibri"/>
                <a:sym typeface="Calibri"/>
              </a:rPr>
              <a:t>. If the user clicks the OK button, the window method </a:t>
            </a:r>
            <a:r>
              <a:rPr lang="en-US" sz="1800" b="1">
                <a:solidFill>
                  <a:schemeClr val="dk1"/>
                </a:solidFill>
                <a:latin typeface="Calibri"/>
                <a:ea typeface="Calibri"/>
                <a:cs typeface="Calibri"/>
                <a:sym typeface="Calibri"/>
              </a:rPr>
              <a:t>prompt()</a:t>
            </a:r>
            <a:r>
              <a:rPr lang="en-US" sz="1800">
                <a:solidFill>
                  <a:schemeClr val="dk1"/>
                </a:solidFill>
                <a:latin typeface="Calibri"/>
                <a:ea typeface="Calibri"/>
                <a:cs typeface="Calibri"/>
                <a:sym typeface="Calibri"/>
              </a:rPr>
              <a:t> will return the entered value from the text box. If the user clicks the Cancel button, the window method </a:t>
            </a:r>
            <a:r>
              <a:rPr lang="en-US" sz="1800" b="1">
                <a:solidFill>
                  <a:schemeClr val="dk1"/>
                </a:solidFill>
                <a:latin typeface="Calibri"/>
                <a:ea typeface="Calibri"/>
                <a:cs typeface="Calibri"/>
                <a:sym typeface="Calibri"/>
              </a:rPr>
              <a:t>prompt()</a:t>
            </a:r>
            <a:r>
              <a:rPr lang="en-US" sz="1800">
                <a:solidFill>
                  <a:schemeClr val="dk1"/>
                </a:solidFill>
                <a:latin typeface="Calibri"/>
                <a:ea typeface="Calibri"/>
                <a:cs typeface="Calibri"/>
                <a:sym typeface="Calibri"/>
              </a:rPr>
              <a:t>returns </a:t>
            </a:r>
            <a:r>
              <a:rPr lang="en-US" sz="1800" b="1">
                <a:solidFill>
                  <a:schemeClr val="dk1"/>
                </a:solidFill>
                <a:latin typeface="Calibri"/>
                <a:ea typeface="Calibri"/>
                <a:cs typeface="Calibri"/>
                <a:sym typeface="Calibri"/>
              </a:rPr>
              <a:t>null</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p:nvPr/>
        </p:nvSpPr>
        <p:spPr>
          <a:xfrm>
            <a:off x="304800" y="609600"/>
            <a:ext cx="86106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retVal = prompt("Enter your name : ", "your name here");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document.write("You have entered : " + retVal);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p:nvPr/>
        </p:nvSpPr>
        <p:spPr>
          <a:xfrm>
            <a:off x="304800" y="609600"/>
            <a:ext cx="8610600" cy="69689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Keywords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statements often start with a </a:t>
            </a:r>
            <a:r>
              <a:rPr lang="en-US" sz="1800" b="1">
                <a:solidFill>
                  <a:schemeClr val="dk1"/>
                </a:solidFill>
                <a:latin typeface="Calibri"/>
                <a:ea typeface="Calibri"/>
                <a:cs typeface="Calibri"/>
                <a:sym typeface="Calibri"/>
              </a:rPr>
              <a:t>keyword</a:t>
            </a:r>
            <a:r>
              <a:rPr lang="en-US" sz="1800">
                <a:solidFill>
                  <a:schemeClr val="dk1"/>
                </a:solidFill>
                <a:latin typeface="Calibri"/>
                <a:ea typeface="Calibri"/>
                <a:cs typeface="Calibri"/>
                <a:sym typeface="Calibri"/>
              </a:rPr>
              <a:t> to identify the JavaScript action to be performed.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Most Commonly used keywords in Javascript: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Keyword                                 Description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Break                         Terminates a switch or a loop</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Continue                   Jumps out of a loop and starts at the top</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debugger                  Stops the execution of JavaScript, and calls (if available) the debugging   function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 ... while               Executes a block of statements, and repeats the block, while a condition is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Marks a block of statements to be executed, as long as a condition is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Declares a function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 else                     Marks a block of statements to be executed, depending on a condition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                        Exits a function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switch                       Marks a block of statements to be executed, depending on different cases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try ... catch               Implements error handling to a block of statements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Declares a variable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p:nvPr/>
        </p:nvSpPr>
        <p:spPr>
          <a:xfrm>
            <a:off x="152400" y="838200"/>
            <a:ext cx="8763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keywords are reserved words. Reserved words cannot be used as names for variables.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Comments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comments can be used to explain JavaScript code, and to make it more readable.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comments can also be used to prevent execution, when testing alternative code.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Single Line Comments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Single line comments start with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Any text between // and the end of the line will be ignored by JavaScript (will not be executed).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Multi Line Comments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Multi-line comments start with /* and end with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Any text between /* and */ will be ignored by JavaScript.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p:nvPr/>
        </p:nvSpPr>
        <p:spPr>
          <a:xfrm>
            <a:off x="381000" y="533400"/>
            <a:ext cx="83820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Variables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variables are containers for storing data values.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&lt;h1&gt;JavaScript Variables&lt;/h1&gt;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y = 6;</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z = x + 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z;</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7"/>
          <p:cNvSpPr txBox="1"/>
          <p:nvPr/>
        </p:nvSpPr>
        <p:spPr>
          <a:xfrm>
            <a:off x="304800" y="762000"/>
            <a:ext cx="8534400"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a = 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b = 6;</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c = a+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"The total is: " + 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p:nvPr/>
        </p:nvSpPr>
        <p:spPr>
          <a:xfrm>
            <a:off x="304800" y="685800"/>
            <a:ext cx="8610600" cy="70173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Identifiers</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All JavaScript </a:t>
            </a:r>
            <a:r>
              <a:rPr lang="en-US" sz="1800" b="1">
                <a:solidFill>
                  <a:schemeClr val="dk1"/>
                </a:solidFill>
                <a:latin typeface="Calibri"/>
                <a:ea typeface="Calibri"/>
                <a:cs typeface="Calibri"/>
                <a:sym typeface="Calibri"/>
              </a:rPr>
              <a:t>variables</a:t>
            </a:r>
            <a:r>
              <a:rPr lang="en-US" sz="1800">
                <a:solidFill>
                  <a:schemeClr val="dk1"/>
                </a:solidFill>
                <a:latin typeface="Calibri"/>
                <a:ea typeface="Calibri"/>
                <a:cs typeface="Calibri"/>
                <a:sym typeface="Calibri"/>
              </a:rPr>
              <a:t> must be </a:t>
            </a:r>
            <a:r>
              <a:rPr lang="en-US" sz="1800" b="1">
                <a:solidFill>
                  <a:schemeClr val="dk1"/>
                </a:solidFill>
                <a:latin typeface="Calibri"/>
                <a:ea typeface="Calibri"/>
                <a:cs typeface="Calibri"/>
                <a:sym typeface="Calibri"/>
              </a:rPr>
              <a:t>identified</a:t>
            </a:r>
            <a:r>
              <a:rPr lang="en-US" sz="1800">
                <a:solidFill>
                  <a:schemeClr val="dk1"/>
                </a:solidFill>
                <a:latin typeface="Calibri"/>
                <a:ea typeface="Calibri"/>
                <a:cs typeface="Calibri"/>
                <a:sym typeface="Calibri"/>
              </a:rPr>
              <a:t> with </a:t>
            </a:r>
            <a:r>
              <a:rPr lang="en-US" sz="1800" b="1">
                <a:solidFill>
                  <a:schemeClr val="dk1"/>
                </a:solidFill>
                <a:latin typeface="Calibri"/>
                <a:ea typeface="Calibri"/>
                <a:cs typeface="Calibri"/>
                <a:sym typeface="Calibri"/>
              </a:rPr>
              <a:t>unique names</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These unique names are called </a:t>
            </a:r>
            <a:r>
              <a:rPr lang="en-US" sz="1800" b="1">
                <a:solidFill>
                  <a:schemeClr val="dk1"/>
                </a:solidFill>
                <a:latin typeface="Calibri"/>
                <a:ea typeface="Calibri"/>
                <a:cs typeface="Calibri"/>
                <a:sym typeface="Calibri"/>
              </a:rPr>
              <a:t>identifiers</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general rules for constructing names for variables (unique identifiers) are: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Names can contain letters, digits, underscores, and dollar signs.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Names must begin with a letter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Names can also begin with $ and _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Names are case sensitive (y and Y are different variables)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Reserved words (like JavaScript keywords) cannot be used as names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NB</a:t>
            </a:r>
            <a:r>
              <a:rPr lang="en-US" sz="1800">
                <a:solidFill>
                  <a:schemeClr val="dk1"/>
                </a:solidFill>
                <a:latin typeface="Calibri"/>
                <a:ea typeface="Calibri"/>
                <a:cs typeface="Calibri"/>
                <a:sym typeface="Calibri"/>
              </a:rPr>
              <a:t>: JavaScript identifiers are case-sensitive.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Declaring (Creating) JavaScript Variables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Creating a variable in JavaScript is called "declaring" a variable.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 declare a JavaScript variable with the </a:t>
            </a:r>
            <a:r>
              <a:rPr lang="en-US" sz="1800" b="1">
                <a:solidFill>
                  <a:schemeClr val="dk1"/>
                </a:solidFill>
                <a:latin typeface="Calibri"/>
                <a:ea typeface="Calibri"/>
                <a:cs typeface="Calibri"/>
                <a:sym typeface="Calibri"/>
              </a:rPr>
              <a:t>var</a:t>
            </a:r>
            <a:r>
              <a:rPr lang="en-US" sz="1800">
                <a:solidFill>
                  <a:schemeClr val="dk1"/>
                </a:solidFill>
                <a:latin typeface="Calibri"/>
                <a:ea typeface="Calibri"/>
                <a:cs typeface="Calibri"/>
                <a:sym typeface="Calibri"/>
              </a:rPr>
              <a:t> keyword: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number;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After the declaration, the variable has no value. (Technically it has the value of </a:t>
            </a:r>
            <a:r>
              <a:rPr lang="en-US" sz="1800" b="1">
                <a:solidFill>
                  <a:schemeClr val="dk1"/>
                </a:solidFill>
                <a:latin typeface="Calibri"/>
                <a:ea typeface="Calibri"/>
                <a:cs typeface="Calibri"/>
                <a:sym typeface="Calibri"/>
              </a:rPr>
              <a:t>undefined</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p:nvPr/>
        </p:nvSpPr>
        <p:spPr>
          <a:xfrm>
            <a:off x="152400" y="685800"/>
            <a:ext cx="8763000"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Re-Declaring JavaScript Variables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you re-declare a JavaScript variable, it will not lose its 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variable Name will still have the value “Rahul" after the execution of these statements: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&lt;p&gt;If you re-declare a JavaScript variable, it will not lose its value.&lt;/p&gt;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Name = “Rahul";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Name;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Name;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p:nvPr/>
        </p:nvSpPr>
        <p:spPr>
          <a:xfrm>
            <a:off x="304800" y="762000"/>
            <a:ext cx="83820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Arithmetic</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&lt;p&gt;The result of adding 5 + 10 + 20:&lt;/p&gt;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5 + 10 + 20;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p:nvPr/>
        </p:nvSpPr>
        <p:spPr>
          <a:xfrm>
            <a:off x="304800" y="533400"/>
            <a:ext cx="8534400"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You can also add strings, but strings will be concatenated:</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“Rohit" + " " + “Sharma";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document.getElementById("demo").innerHTML =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p:nvPr/>
        </p:nvSpPr>
        <p:spPr>
          <a:xfrm>
            <a:off x="304800" y="685800"/>
            <a:ext cx="8077200"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"5" + 8 + 4;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3"/>
          <p:cNvSpPr txBox="1"/>
          <p:nvPr/>
        </p:nvSpPr>
        <p:spPr>
          <a:xfrm>
            <a:off x="228600" y="762000"/>
            <a:ext cx="8686800"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8 + 4+ "5";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4"/>
          <p:cNvSpPr txBox="1"/>
          <p:nvPr/>
        </p:nvSpPr>
        <p:spPr>
          <a:xfrm>
            <a:off x="228600" y="762000"/>
            <a:ext cx="8458200" cy="54014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Operators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Arithmetic Operators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Arithmetic operators are used to perform arithmetic on numbers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Operator        Description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Addition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Subtraction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Multiplication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Division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Modulus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Increment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Decrement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Assignment Operators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Assignment operators assign values to JavaScript variables.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txBox="1"/>
          <p:nvPr/>
        </p:nvSpPr>
        <p:spPr>
          <a:xfrm>
            <a:off x="304800" y="609600"/>
            <a:ext cx="8305800"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Operator      Example                   Same As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y                           x = 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y                        x = x + 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y                         x = x - 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y                         x = x * 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y                         x = x / 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y                       x = x % 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name1 = “Welcome to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name1 += “Lovely Professional University";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name1;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6"/>
          <p:cNvSpPr txBox="1"/>
          <p:nvPr/>
        </p:nvSpPr>
        <p:spPr>
          <a:xfrm>
            <a:off x="304800" y="762000"/>
            <a:ext cx="86106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Adding Strings and Numbers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Adding two numbers, will return the sum, but adding a number and a string will return a string: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5 + 10;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y = "5" + 10;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z = "Hello" + 5;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x + "&lt;br&gt;" + y + "&lt;br&gt;" + z;</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7"/>
          <p:cNvSpPr txBox="1"/>
          <p:nvPr/>
        </p:nvSpPr>
        <p:spPr>
          <a:xfrm>
            <a:off x="152400" y="762000"/>
            <a:ext cx="8763000"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Comparison and Logical Operators</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Operator            Description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equal to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equal value and equal type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not equal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not equal value or not equal type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&gt;                             greater than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                             less than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&gt;=                           greater than or equal to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                           less than or equal to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ternary operator</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8"/>
          <p:cNvSpPr txBox="1"/>
          <p:nvPr/>
        </p:nvSpPr>
        <p:spPr>
          <a:xfrm>
            <a:off x="304801" y="533400"/>
            <a:ext cx="8458200" cy="68927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Operator Precedence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Operator precedence describes the order in which operations are performed in an arithmetic expression.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100+50*3;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(100+50)*3;</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9"/>
          <p:cNvSpPr txBox="1"/>
          <p:nvPr/>
        </p:nvSpPr>
        <p:spPr>
          <a:xfrm>
            <a:off x="304800" y="609600"/>
            <a:ext cx="8610600" cy="77237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Booleans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Booleans can only have two values: true or false.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 = true;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var y =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Booleans are often used in conditional testing.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Arrays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arrays are written with square brackets.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Array items are separated by commas.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names = [“Rohit",“Rahul",“Virat”];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names[0];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0"/>
          <p:cNvSpPr txBox="1"/>
          <p:nvPr/>
        </p:nvSpPr>
        <p:spPr>
          <a:xfrm>
            <a:off x="304800" y="609600"/>
            <a:ext cx="8534400"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Objects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objects are written with curly braces.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Object properties are written as name:value pairs, separated by commas.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person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firstName : "Rahul",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lastName  : “Sharma",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age       : 50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person.firstName + " is " + person.age + " years old.";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1"/>
          <p:cNvSpPr txBox="1"/>
          <p:nvPr/>
        </p:nvSpPr>
        <p:spPr>
          <a:xfrm>
            <a:off x="304800" y="838200"/>
            <a:ext cx="7937622"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The typeof Operator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 can use the JavaScript </a:t>
            </a:r>
            <a:r>
              <a:rPr lang="en-US" sz="1800" b="1">
                <a:solidFill>
                  <a:schemeClr val="dk1"/>
                </a:solidFill>
                <a:latin typeface="Calibri"/>
                <a:ea typeface="Calibri"/>
                <a:cs typeface="Calibri"/>
                <a:sym typeface="Calibri"/>
              </a:rPr>
              <a:t>typeof</a:t>
            </a:r>
            <a:r>
              <a:rPr lang="en-US" sz="1800">
                <a:solidFill>
                  <a:schemeClr val="dk1"/>
                </a:solidFill>
                <a:latin typeface="Calibri"/>
                <a:ea typeface="Calibri"/>
                <a:cs typeface="Calibri"/>
                <a:sym typeface="Calibri"/>
              </a:rPr>
              <a:t> operator to find the type of a JavaScript variable: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typeof "Rahul" + "&lt;br&gt;"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typeof 3.14 + "&lt;br&gt;"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typeof false + "&lt;br&gt;"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typeof [1,2,3,4] + "&lt;br&gt;"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typeof {name:‘Rahul', age:34};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2"/>
          <p:cNvSpPr txBox="1"/>
          <p:nvPr/>
        </p:nvSpPr>
        <p:spPr>
          <a:xfrm>
            <a:off x="228600" y="533400"/>
            <a:ext cx="8686800"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Date Object Methods: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Method/Description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3"/>
              </a:rPr>
              <a:t>getDate()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day of the month (from 1-31)</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4"/>
              </a:rPr>
              <a:t>getDay()</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day of the week (from 0-6)</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5"/>
              </a:rPr>
              <a:t>getFullYear()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year</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6"/>
              </a:rPr>
              <a:t>getHours()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hour (from 0-23)</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7"/>
              </a:rPr>
              <a:t>getMilliseconds()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milliseconds (from 0-999)</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8"/>
              </a:rPr>
              <a:t>getMinutes()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minutes (from 0-59)</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9"/>
              </a:rPr>
              <a:t>getMonth()</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month (from 0-11)</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0"/>
              </a:rPr>
              <a:t>getSeconds()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seconds (from 0-59)</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1"/>
              </a:rPr>
              <a:t>getTime()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number of milliseconds since midnight Jan 1 1970, and a specified date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3"/>
          <p:cNvSpPr txBox="1"/>
          <p:nvPr/>
        </p:nvSpPr>
        <p:spPr>
          <a:xfrm>
            <a:off x="228600" y="533400"/>
            <a:ext cx="85344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3"/>
              </a:rPr>
              <a:t>getTimezoneOffset()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time difference between UTC time and local time, in minutes</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4"/>
              </a:rPr>
              <a:t>getUTCDate()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day of the month, according to universal time (from 1-31)</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5"/>
              </a:rPr>
              <a:t>getUTCDay()</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day of the week, according to universal time (from 0-6)</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6"/>
              </a:rPr>
              <a:t>getUTCFullYear()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year,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7"/>
              </a:rPr>
              <a:t>getUTCHours()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hour, according to universal time (from 0-23)</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8"/>
              </a:rPr>
              <a:t>getUTCMilliseconds()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milliseconds, according to universal time (from 0-999)</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9"/>
              </a:rPr>
              <a:t>getUTCMinutes()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minutes, according to universal time (from 0-59)</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0"/>
              </a:rPr>
              <a:t>getUTCMonth()</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month, according to universal time (from 0-11)</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1"/>
              </a:rPr>
              <a:t>getUTCSeconds()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seconds, according to universal time (from 0-59)</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2"/>
              </a:rPr>
              <a:t>now()</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number of milliseconds since midnight Jan 1, 1970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4"/>
          <p:cNvSpPr txBox="1"/>
          <p:nvPr/>
        </p:nvSpPr>
        <p:spPr>
          <a:xfrm>
            <a:off x="228600" y="533400"/>
            <a:ext cx="8915400"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3"/>
              </a:rPr>
              <a:t>parse()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Parses a date string and returns the number of milliseconds since January 1, 1970</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4"/>
              </a:rPr>
              <a:t>setDate()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day of the month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5"/>
              </a:rPr>
              <a:t>setFullYear()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year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6"/>
              </a:rPr>
              <a:t>setHours()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hour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7"/>
              </a:rPr>
              <a:t>setMilliseconds()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milliseconds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8"/>
              </a:rPr>
              <a:t>setMinutes()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 the minutes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9"/>
              </a:rPr>
              <a:t>setMonth()</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month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0"/>
              </a:rPr>
              <a:t>setSeconds()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seconds of a date object</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1"/>
              </a:rPr>
              <a:t>setTime()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a date to a specified number of milliseconds after/before January 1, 1970</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2"/>
              </a:rPr>
              <a:t>setUTCDate()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day of the month of a date object,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3"/>
              </a:rPr>
              <a:t>setUTCFullYear()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year of a date object, according to universal time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5"/>
          <p:cNvSpPr txBox="1"/>
          <p:nvPr/>
        </p:nvSpPr>
        <p:spPr>
          <a:xfrm>
            <a:off x="304800" y="914400"/>
            <a:ext cx="845820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3"/>
              </a:rPr>
              <a:t>setUTCHours()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hour of a date object,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4"/>
              </a:rPr>
              <a:t>setUTCMilliseconds()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milliseconds of a date object,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5"/>
              </a:rPr>
              <a:t>setUTCMinutes()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 the minutes of a date object,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6"/>
              </a:rPr>
              <a:t>setUTCMonth()</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Sets the month of a date object,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7"/>
              </a:rPr>
              <a:t>setUTCSeconds()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Set the seconds of a date object,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8"/>
              </a:rPr>
              <a:t>toDateString()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Converts the date portion of a Date object into a readable string</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9"/>
              </a:rPr>
              <a:t>toISOString()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date as a string, using the ISO standard</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0"/>
              </a:rPr>
              <a:t>toJSON()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date as a string, formatted as a JSON date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6"/>
          <p:cNvSpPr txBox="1"/>
          <p:nvPr/>
        </p:nvSpPr>
        <p:spPr>
          <a:xfrm>
            <a:off x="0" y="838200"/>
            <a:ext cx="914400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3"/>
              </a:rPr>
              <a:t>toLocaleDateString()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date portion of a Date object as a string, using locale conventions</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4"/>
              </a:rPr>
              <a:t>toLocaleTimeString()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time portion of a Date object as a string, using locale conventions</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5"/>
              </a:rPr>
              <a:t>toLocaleString()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Converts a Date object to a string, using locale conventions</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6"/>
              </a:rPr>
              <a:t>toString()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Converts a Date object to a string</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7"/>
              </a:rPr>
              <a:t>toTimeString()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Converts the time portion of a Date object to a string</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8"/>
              </a:rPr>
              <a:t>toUTCString()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Converts a Date object to a string, according to universal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9"/>
              </a:rPr>
              <a:t>UTC()</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number of milliseconds in a date since midnight of January 1, 1970, according to UTC time</a:t>
            </a:r>
            <a:endParaRPr/>
          </a:p>
          <a:p>
            <a:pPr marL="0" marR="0" lvl="0" indent="0" algn="l" rtl="0">
              <a:spcBef>
                <a:spcPts val="0"/>
              </a:spcBef>
              <a:spcAft>
                <a:spcPts val="0"/>
              </a:spcAft>
              <a:buNone/>
            </a:pPr>
            <a:r>
              <a:rPr lang="en-US" sz="1800" u="sng">
                <a:solidFill>
                  <a:schemeClr val="hlink"/>
                </a:solidFill>
                <a:latin typeface="Calibri"/>
                <a:ea typeface="Calibri"/>
                <a:cs typeface="Calibri"/>
                <a:sym typeface="Calibri"/>
                <a:hlinkClick r:id="rId10"/>
              </a:rPr>
              <a:t>valueOf()</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Returns the primitive value of a Date object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7"/>
          <p:cNvSpPr txBox="1"/>
          <p:nvPr/>
        </p:nvSpPr>
        <p:spPr>
          <a:xfrm>
            <a:off x="228600" y="685800"/>
            <a:ext cx="86106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Conditional Statements</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In JavaScript we have the following conditional statements: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a:t>
            </a:r>
            <a:r>
              <a:rPr lang="en-US" sz="1800" b="1">
                <a:solidFill>
                  <a:schemeClr val="dk1"/>
                </a:solidFill>
                <a:latin typeface="Calibri"/>
                <a:ea typeface="Calibri"/>
                <a:cs typeface="Calibri"/>
                <a:sym typeface="Calibri"/>
              </a:rPr>
              <a:t> if </a:t>
            </a:r>
            <a:r>
              <a:rPr lang="en-US" sz="1800">
                <a:solidFill>
                  <a:schemeClr val="dk1"/>
                </a:solidFill>
                <a:latin typeface="Calibri"/>
                <a:ea typeface="Calibri"/>
                <a:cs typeface="Calibri"/>
                <a:sym typeface="Calibri"/>
              </a:rPr>
              <a:t>to specify a block of code to be executed, if a specified condition is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a:t>
            </a:r>
            <a:r>
              <a:rPr lang="en-US" sz="1800" b="1">
                <a:solidFill>
                  <a:schemeClr val="dk1"/>
                </a:solidFill>
                <a:latin typeface="Calibri"/>
                <a:ea typeface="Calibri"/>
                <a:cs typeface="Calibri"/>
                <a:sym typeface="Calibri"/>
              </a:rPr>
              <a:t>else</a:t>
            </a:r>
            <a:r>
              <a:rPr lang="en-US" sz="1800">
                <a:solidFill>
                  <a:schemeClr val="dk1"/>
                </a:solidFill>
                <a:latin typeface="Calibri"/>
                <a:ea typeface="Calibri"/>
                <a:cs typeface="Calibri"/>
                <a:sym typeface="Calibri"/>
              </a:rPr>
              <a:t> to specify a block of code to be executed, if the same condition is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a:t>
            </a:r>
            <a:r>
              <a:rPr lang="en-US" sz="1800" b="1">
                <a:solidFill>
                  <a:schemeClr val="dk1"/>
                </a:solidFill>
                <a:latin typeface="Calibri"/>
                <a:ea typeface="Calibri"/>
                <a:cs typeface="Calibri"/>
                <a:sym typeface="Calibri"/>
              </a:rPr>
              <a:t>else if</a:t>
            </a:r>
            <a:r>
              <a:rPr lang="en-US" sz="1800">
                <a:solidFill>
                  <a:schemeClr val="dk1"/>
                </a:solidFill>
                <a:latin typeface="Calibri"/>
                <a:ea typeface="Calibri"/>
                <a:cs typeface="Calibri"/>
                <a:sym typeface="Calibri"/>
              </a:rPr>
              <a:t> to specify a new condition to test, if the first condition is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a:t>
            </a:r>
            <a:r>
              <a:rPr lang="en-US" sz="1800" b="1">
                <a:solidFill>
                  <a:schemeClr val="dk1"/>
                </a:solidFill>
                <a:latin typeface="Calibri"/>
                <a:ea typeface="Calibri"/>
                <a:cs typeface="Calibri"/>
                <a:sym typeface="Calibri"/>
              </a:rPr>
              <a:t>switch</a:t>
            </a:r>
            <a:r>
              <a:rPr lang="en-US" sz="1800">
                <a:solidFill>
                  <a:schemeClr val="dk1"/>
                </a:solidFill>
                <a:latin typeface="Calibri"/>
                <a:ea typeface="Calibri"/>
                <a:cs typeface="Calibri"/>
                <a:sym typeface="Calibri"/>
              </a:rPr>
              <a:t> to specify many alternative blocks of code to be executed.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The if Statement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the </a:t>
            </a:r>
            <a:r>
              <a:rPr lang="en-US" sz="1800" b="1">
                <a:solidFill>
                  <a:schemeClr val="dk1"/>
                </a:solidFill>
                <a:latin typeface="Calibri"/>
                <a:ea typeface="Calibri"/>
                <a:cs typeface="Calibri"/>
                <a:sym typeface="Calibri"/>
              </a:rPr>
              <a:t>if</a:t>
            </a:r>
            <a:r>
              <a:rPr lang="en-US" sz="1800">
                <a:solidFill>
                  <a:schemeClr val="dk1"/>
                </a:solidFill>
                <a:latin typeface="Calibri"/>
                <a:ea typeface="Calibri"/>
                <a:cs typeface="Calibri"/>
                <a:sym typeface="Calibri"/>
              </a:rPr>
              <a:t> statement to specify a block of JavaScript code to be executed if a condition is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Syntax</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i="1">
                <a:solidFill>
                  <a:schemeClr val="dk1"/>
                </a:solidFill>
                <a:latin typeface="Calibri"/>
                <a:ea typeface="Calibri"/>
                <a:cs typeface="Calibri"/>
                <a:sym typeface="Calibri"/>
              </a:rPr>
              <a:t>condition</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block of code to be executed if the condition is true</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8"/>
          <p:cNvSpPr txBox="1"/>
          <p:nvPr/>
        </p:nvSpPr>
        <p:spPr>
          <a:xfrm>
            <a:off x="304800" y="838200"/>
            <a:ext cx="8437951"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The else Statement: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the </a:t>
            </a:r>
            <a:r>
              <a:rPr lang="en-US" sz="1800" b="1">
                <a:solidFill>
                  <a:schemeClr val="dk1"/>
                </a:solidFill>
                <a:latin typeface="Calibri"/>
                <a:ea typeface="Calibri"/>
                <a:cs typeface="Calibri"/>
                <a:sym typeface="Calibri"/>
              </a:rPr>
              <a:t>else</a:t>
            </a:r>
            <a:r>
              <a:rPr lang="en-US" sz="1800">
                <a:solidFill>
                  <a:schemeClr val="dk1"/>
                </a:solidFill>
                <a:latin typeface="Calibri"/>
                <a:ea typeface="Calibri"/>
                <a:cs typeface="Calibri"/>
                <a:sym typeface="Calibri"/>
              </a:rPr>
              <a:t> statement to specify a block of code to be executed if the condition is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i="1">
                <a:solidFill>
                  <a:schemeClr val="dk1"/>
                </a:solidFill>
                <a:latin typeface="Calibri"/>
                <a:ea typeface="Calibri"/>
                <a:cs typeface="Calibri"/>
                <a:sym typeface="Calibri"/>
              </a:rPr>
              <a:t>condition</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block of code to be executed if the condition is true</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else {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block of code to be executed if the condition is false</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The else if Statement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the </a:t>
            </a:r>
            <a:r>
              <a:rPr lang="en-US" sz="1800" b="1">
                <a:solidFill>
                  <a:schemeClr val="dk1"/>
                </a:solidFill>
                <a:latin typeface="Calibri"/>
                <a:ea typeface="Calibri"/>
                <a:cs typeface="Calibri"/>
                <a:sym typeface="Calibri"/>
              </a:rPr>
              <a:t>else if</a:t>
            </a:r>
            <a:r>
              <a:rPr lang="en-US" sz="1800">
                <a:solidFill>
                  <a:schemeClr val="dk1"/>
                </a:solidFill>
                <a:latin typeface="Calibri"/>
                <a:ea typeface="Calibri"/>
                <a:cs typeface="Calibri"/>
                <a:sym typeface="Calibri"/>
              </a:rPr>
              <a:t> statement to specify a new condition if the first condition is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Syntax</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i="1">
                <a:solidFill>
                  <a:schemeClr val="dk1"/>
                </a:solidFill>
                <a:latin typeface="Calibri"/>
                <a:ea typeface="Calibri"/>
                <a:cs typeface="Calibri"/>
                <a:sym typeface="Calibri"/>
              </a:rPr>
              <a:t>condition1</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block of code to be executed if condition1 is true</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else if (</a:t>
            </a:r>
            <a:r>
              <a:rPr lang="en-US" sz="1800" i="1">
                <a:solidFill>
                  <a:schemeClr val="dk1"/>
                </a:solidFill>
                <a:latin typeface="Calibri"/>
                <a:ea typeface="Calibri"/>
                <a:cs typeface="Calibri"/>
                <a:sym typeface="Calibri"/>
              </a:rPr>
              <a:t>condition2</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block of code to be executed if the condition1 is false and condition2 is true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else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block of code to be executed if the condition1 is false and condition2 is false</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9"/>
          <p:cNvSpPr txBox="1"/>
          <p:nvPr/>
        </p:nvSpPr>
        <p:spPr>
          <a:xfrm>
            <a:off x="381000" y="685800"/>
            <a:ext cx="8417561"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Switch Statement: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switch statement is used to perform different actions based on different conditions.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JavaScript Switch Statement</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the switch statement to select one of many blocks of code to be executed.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Syntax</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switch(</a:t>
            </a:r>
            <a:r>
              <a:rPr lang="en-US" sz="1800" i="1">
                <a:solidFill>
                  <a:schemeClr val="dk1"/>
                </a:solidFill>
                <a:latin typeface="Calibri"/>
                <a:ea typeface="Calibri"/>
                <a:cs typeface="Calibri"/>
                <a:sym typeface="Calibri"/>
              </a:rPr>
              <a:t>expression</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case </a:t>
            </a:r>
            <a:r>
              <a:rPr lang="en-US" sz="1800" i="1">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code block</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break;</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case </a:t>
            </a:r>
            <a:r>
              <a:rPr lang="en-US" sz="1800" i="1">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code block</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break;</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default: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a:t>
            </a:r>
            <a:r>
              <a:rPr lang="en-US" sz="1800" i="1">
                <a:solidFill>
                  <a:schemeClr val="dk1"/>
                </a:solidFill>
                <a:latin typeface="Calibri"/>
                <a:ea typeface="Calibri"/>
                <a:cs typeface="Calibri"/>
                <a:sym typeface="Calibri"/>
              </a:rPr>
              <a:t>default code block</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50"/>
          <p:cNvSpPr txBox="1"/>
          <p:nvPr/>
        </p:nvSpPr>
        <p:spPr>
          <a:xfrm>
            <a:off x="304800" y="838200"/>
            <a:ext cx="8610600" cy="72943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Loops</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supports different kinds of loops: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for </a:t>
            </a:r>
            <a:r>
              <a:rPr lang="en-US" sz="1800">
                <a:solidFill>
                  <a:schemeClr val="dk1"/>
                </a:solidFill>
                <a:latin typeface="Calibri"/>
                <a:ea typeface="Calibri"/>
                <a:cs typeface="Calibri"/>
                <a:sym typeface="Calibri"/>
              </a:rPr>
              <a:t>- loops through a block of code a number of times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for/in </a:t>
            </a:r>
            <a:r>
              <a:rPr lang="en-US" sz="1800">
                <a:solidFill>
                  <a:schemeClr val="dk1"/>
                </a:solidFill>
                <a:latin typeface="Calibri"/>
                <a:ea typeface="Calibri"/>
                <a:cs typeface="Calibri"/>
                <a:sym typeface="Calibri"/>
              </a:rPr>
              <a:t>- loops through the properties of an object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while </a:t>
            </a:r>
            <a:r>
              <a:rPr lang="en-US" sz="1800">
                <a:solidFill>
                  <a:schemeClr val="dk1"/>
                </a:solidFill>
                <a:latin typeface="Calibri"/>
                <a:ea typeface="Calibri"/>
                <a:cs typeface="Calibri"/>
                <a:sym typeface="Calibri"/>
              </a:rPr>
              <a:t>- loops through a block of code while a specified condition is true</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do/while</a:t>
            </a:r>
            <a:r>
              <a:rPr lang="en-US" sz="1800">
                <a:solidFill>
                  <a:schemeClr val="dk1"/>
                </a:solidFill>
                <a:latin typeface="Calibri"/>
                <a:ea typeface="Calibri"/>
                <a:cs typeface="Calibri"/>
                <a:sym typeface="Calibri"/>
              </a:rPr>
              <a:t> - also loops through a block of code while a specified condition is true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The For Loop</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for loop is often the tool you will use when you want to create a loop.</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for loop has the following syntax: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a:t>
            </a:r>
            <a:r>
              <a:rPr lang="en-US" sz="1800" i="1">
                <a:solidFill>
                  <a:schemeClr val="dk1"/>
                </a:solidFill>
                <a:latin typeface="Calibri"/>
                <a:ea typeface="Calibri"/>
                <a:cs typeface="Calibri"/>
                <a:sym typeface="Calibri"/>
              </a:rPr>
              <a:t>statement 1</a:t>
            </a:r>
            <a:r>
              <a:rPr lang="en-US" sz="1800">
                <a:solidFill>
                  <a:schemeClr val="dk1"/>
                </a:solidFill>
                <a:latin typeface="Calibri"/>
                <a:ea typeface="Calibri"/>
                <a:cs typeface="Calibri"/>
                <a:sym typeface="Calibri"/>
              </a:rPr>
              <a:t>;</a:t>
            </a:r>
            <a:r>
              <a:rPr lang="en-US" sz="1800" i="1">
                <a:solidFill>
                  <a:schemeClr val="dk1"/>
                </a:solidFill>
                <a:latin typeface="Calibri"/>
                <a:ea typeface="Calibri"/>
                <a:cs typeface="Calibri"/>
                <a:sym typeface="Calibri"/>
              </a:rPr>
              <a:t> statement 2</a:t>
            </a:r>
            <a:r>
              <a:rPr lang="en-US" sz="1800">
                <a:solidFill>
                  <a:schemeClr val="dk1"/>
                </a:solidFill>
                <a:latin typeface="Calibri"/>
                <a:ea typeface="Calibri"/>
                <a:cs typeface="Calibri"/>
                <a:sym typeface="Calibri"/>
              </a:rPr>
              <a:t>;</a:t>
            </a:r>
            <a:r>
              <a:rPr lang="en-US" sz="1800" i="1">
                <a:solidFill>
                  <a:schemeClr val="dk1"/>
                </a:solidFill>
                <a:latin typeface="Calibri"/>
                <a:ea typeface="Calibri"/>
                <a:cs typeface="Calibri"/>
                <a:sym typeface="Calibri"/>
              </a:rPr>
              <a:t> statement 3</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a:t>
            </a:r>
            <a:r>
              <a:rPr lang="en-US" sz="1800" i="1">
                <a:solidFill>
                  <a:schemeClr val="dk1"/>
                </a:solidFill>
                <a:latin typeface="Calibri"/>
                <a:ea typeface="Calibri"/>
                <a:cs typeface="Calibri"/>
                <a:sym typeface="Calibri"/>
              </a:rPr>
              <a:t>code block to be executed</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The While Loop</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while loop loops through a block of code as long as a specified condition is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Syntax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while (</a:t>
            </a:r>
            <a:r>
              <a:rPr lang="en-US" sz="1800" i="1">
                <a:solidFill>
                  <a:schemeClr val="dk1"/>
                </a:solidFill>
                <a:latin typeface="Calibri"/>
                <a:ea typeface="Calibri"/>
                <a:cs typeface="Calibri"/>
                <a:sym typeface="Calibri"/>
              </a:rPr>
              <a:t>condition</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code block to be executed</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1"/>
          <p:cNvSpPr txBox="1"/>
          <p:nvPr/>
        </p:nvSpPr>
        <p:spPr>
          <a:xfrm>
            <a:off x="152400" y="990600"/>
            <a:ext cx="8686801"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The Do/While Loop</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do/while loop is a variant of the while loop. This loop will execute the code block once, before checking if the condition is true, then it will repeat the loop as long as the condition is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Syntax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 {</a:t>
            </a:r>
            <a:br>
              <a:rPr lang="en-US" sz="1800">
                <a:solidFill>
                  <a:schemeClr val="dk1"/>
                </a:solidFill>
                <a:latin typeface="Calibri"/>
                <a:ea typeface="Calibri"/>
                <a:cs typeface="Calibri"/>
                <a:sym typeface="Calibri"/>
              </a:rPr>
            </a:br>
            <a:r>
              <a:rPr lang="en-US" sz="1800" i="1">
                <a:solidFill>
                  <a:schemeClr val="dk1"/>
                </a:solidFill>
                <a:latin typeface="Calibri"/>
                <a:ea typeface="Calibri"/>
                <a:cs typeface="Calibri"/>
                <a:sym typeface="Calibri"/>
              </a:rPr>
              <a:t>    code block to be executed</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while (</a:t>
            </a:r>
            <a:r>
              <a:rPr lang="en-US" sz="1800" i="1">
                <a:solidFill>
                  <a:schemeClr val="dk1"/>
                </a:solidFill>
                <a:latin typeface="Calibri"/>
                <a:ea typeface="Calibri"/>
                <a:cs typeface="Calibri"/>
                <a:sym typeface="Calibri"/>
              </a:rPr>
              <a:t>condition</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2"/>
          <p:cNvSpPr txBox="1"/>
          <p:nvPr/>
        </p:nvSpPr>
        <p:spPr>
          <a:xfrm>
            <a:off x="304800" y="838200"/>
            <a:ext cx="84582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The For/In Loop</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JavaScript for/in statement loops through the properties of an object: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&lt;p id="abc"&gt;&lt;/p&gt;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txt=“”;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person = {fname:"Rahul", lname:"Sharma", age:25};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var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(x in person)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txt += person[x] +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document.getElementById("abc").innerHTML = txt;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3"/>
          <p:cNvSpPr txBox="1"/>
          <p:nvPr/>
        </p:nvSpPr>
        <p:spPr>
          <a:xfrm>
            <a:off x="228601" y="685800"/>
            <a:ext cx="8686799"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Events in JavaScript</a:t>
            </a:r>
            <a:endParaRPr/>
          </a:p>
          <a:p>
            <a:pPr marL="0" marR="0" lvl="0" indent="0" algn="l" rtl="0">
              <a:spcBef>
                <a:spcPts val="0"/>
              </a:spcBef>
              <a:spcAft>
                <a:spcPts val="0"/>
              </a:spcAft>
              <a:buNone/>
            </a:pPr>
            <a:endParaRPr sz="18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JavaScript's interaction with HTML is handled through events that occur when the user or the browser manipulates a page.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When the page loads, it is called an event. When the user clicks a button, that click too is an event. Other examples include events like pressing any key, closing a window, resizing a window, etc.</a:t>
            </a:r>
            <a:endParaRPr/>
          </a:p>
          <a:p>
            <a:pPr marL="0" marR="0" lvl="0" indent="0" algn="l" rtl="0">
              <a:spcBef>
                <a:spcPts val="0"/>
              </a:spcBef>
              <a:spcAft>
                <a:spcPts val="0"/>
              </a:spcAft>
              <a:buNone/>
            </a:pPr>
            <a:endParaRPr sz="18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onclick Event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This is the most frequently used event type which occurs when a user clicks the left button of his mouse. You can put your validation, warning etc., against this event type.</a:t>
            </a:r>
            <a:endParaRPr/>
          </a:p>
          <a:p>
            <a:pPr marL="0" marR="0" lvl="0" indent="0" algn="l" rtl="0">
              <a:spcBef>
                <a:spcPts val="0"/>
              </a:spcBef>
              <a:spcAft>
                <a:spcPts val="0"/>
              </a:spcAft>
              <a:buNone/>
            </a:pPr>
            <a:endParaRPr sz="1800" b="1">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4"/>
          <p:cNvSpPr txBox="1"/>
          <p:nvPr/>
        </p:nvSpPr>
        <p:spPr>
          <a:xfrm>
            <a:off x="228600" y="685800"/>
            <a:ext cx="8610600" cy="61555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function abc()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alert("Welcome to the School of CSE")</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&lt;/script&gt;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&lt;form&gt;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&lt;input type="button" onclick="abc()" value="Test" /&gt;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&lt;/form&gt;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5"/>
          <p:cNvSpPr txBox="1"/>
          <p:nvPr/>
        </p:nvSpPr>
        <p:spPr>
          <a:xfrm>
            <a:off x="457200" y="685800"/>
            <a:ext cx="8382000"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onsubmit Event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onsubmit</a:t>
            </a:r>
            <a:r>
              <a:rPr lang="en-US" sz="1800">
                <a:solidFill>
                  <a:schemeClr val="dk1"/>
                </a:solidFill>
                <a:latin typeface="Calibri"/>
                <a:ea typeface="Calibri"/>
                <a:cs typeface="Calibri"/>
                <a:sym typeface="Calibri"/>
              </a:rPr>
              <a:t> is an event that occurs when you try to submit a form. You can put your form validation against this event type.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validate()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alert("Validated");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&lt;form method="POST" onsubmit="return validate()"&gt;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&lt;input type="submit" value="Submit"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&lt;/form&gt;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6"/>
          <p:cNvSpPr txBox="1"/>
          <p:nvPr/>
        </p:nvSpPr>
        <p:spPr>
          <a:xfrm>
            <a:off x="228600" y="685800"/>
            <a:ext cx="8915400" cy="64633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onmouseover and onmouseout Events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These two event types will help you create nice effects with images or even with text as well. The </a:t>
            </a:r>
            <a:r>
              <a:rPr lang="en-US" sz="1800" b="1">
                <a:solidFill>
                  <a:schemeClr val="dk1"/>
                </a:solidFill>
                <a:latin typeface="Calibri"/>
                <a:ea typeface="Calibri"/>
                <a:cs typeface="Calibri"/>
                <a:sym typeface="Calibri"/>
              </a:rPr>
              <a:t>onmouseover</a:t>
            </a:r>
            <a:r>
              <a:rPr lang="en-US" sz="1800">
                <a:solidFill>
                  <a:schemeClr val="dk1"/>
                </a:solidFill>
                <a:latin typeface="Calibri"/>
                <a:ea typeface="Calibri"/>
                <a:cs typeface="Calibri"/>
                <a:sym typeface="Calibri"/>
              </a:rPr>
              <a:t> event triggers when you bring your mouse over any element and the </a:t>
            </a:r>
            <a:r>
              <a:rPr lang="en-US" sz="1800" b="1">
                <a:solidFill>
                  <a:schemeClr val="dk1"/>
                </a:solidFill>
                <a:latin typeface="Calibri"/>
                <a:ea typeface="Calibri"/>
                <a:cs typeface="Calibri"/>
                <a:sym typeface="Calibri"/>
              </a:rPr>
              <a:t>onmouseout</a:t>
            </a:r>
            <a:r>
              <a:rPr lang="en-US" sz="1800">
                <a:solidFill>
                  <a:schemeClr val="dk1"/>
                </a:solidFill>
                <a:latin typeface="Calibri"/>
                <a:ea typeface="Calibri"/>
                <a:cs typeface="Calibri"/>
                <a:sym typeface="Calibri"/>
              </a:rPr>
              <a:t> triggers when you move your mouse out from that element.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over()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 ("Mouse Over");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&lt;div onmouseover="over()"&gt;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Hello LPU</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&lt;/div&gt;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57"/>
          <p:cNvSpPr txBox="1"/>
          <p:nvPr/>
        </p:nvSpPr>
        <p:spPr>
          <a:xfrm>
            <a:off x="228600" y="609600"/>
            <a:ext cx="79248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out()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 ("Mouse Out");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&lt;div onmouseout="out()"&gt;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Hello LPU</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&lt;/div&gt;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8"/>
          <p:cNvSpPr txBox="1"/>
          <p:nvPr/>
        </p:nvSpPr>
        <p:spPr>
          <a:xfrm>
            <a:off x="228600" y="762000"/>
            <a:ext cx="86868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onkeypress Event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onkeypress event occurs when the user presses a key (on the keyboard).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 ("Pressed");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&lt;input type="text" onkeypress="abc()"&gt;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9"/>
          <p:cNvSpPr txBox="1"/>
          <p:nvPr/>
        </p:nvSpPr>
        <p:spPr>
          <a:xfrm>
            <a:off x="228600" y="838200"/>
            <a:ext cx="84582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onload Event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onload event occurs when an object has been loaded.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onload is most often used within the &lt;body&gt; element to execute a script once a web page has completely loaded all content (including images, script files, CSS files, etc.).</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 ("Example of Text on Page Loading");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 onload="abc()"&gt;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60"/>
          <p:cNvSpPr txBox="1"/>
          <p:nvPr/>
        </p:nvSpPr>
        <p:spPr>
          <a:xfrm>
            <a:off x="228600" y="838200"/>
            <a:ext cx="83058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onreset Event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When you reset the form, a function is triggered which alerts some text</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&lt;form onreset=“abc()"&gt;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Enter name: &lt;input type="text"&gt;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&lt;input type="reset"&gt;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&lt;/form&gt;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alert("The form was reset");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61"/>
          <p:cNvSpPr txBox="1"/>
          <p:nvPr/>
        </p:nvSpPr>
        <p:spPr>
          <a:xfrm>
            <a:off x="152400" y="838200"/>
            <a:ext cx="8153400"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Form Validation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Form validation normally used to occur at the server, after the client had entered all the necessary data and then pressed the Submit button.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the data entered by a client was incorrect or was simply missing, the server would have to send all the data back to the client and request that the form be resubmitted with correct information. This was really a lengthy process which used to put a lot of burden on the server.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provides a way to validate form's data on the client's computer before sending it to the web server.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62"/>
          <p:cNvSpPr txBox="1"/>
          <p:nvPr/>
        </p:nvSpPr>
        <p:spPr>
          <a:xfrm>
            <a:off x="381000" y="685800"/>
            <a:ext cx="8382000" cy="67403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Example1: Matching Password and Confirm Password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CanSubmit()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//alert("ok");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pwd = document.forms[0].txtPassword.value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cpwd = document.forms[0].txtConfirmPassword.value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(pwd == cpwd)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else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alert("Please make sure that Password and Confirm Password are Same");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&lt;form action="" method="post" onsubmit ="return CanSubmit()"&gt;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Password: &lt;input type="password" name="txtPassword" value="" /&gt; &lt;br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ConfirmPassword: &lt;input type="password" name="txtConfirmPassword" value="" /&gt; &lt;br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name="btnSubmit" value="Submit"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&lt;/form&gt;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63"/>
          <p:cNvSpPr txBox="1"/>
          <p:nvPr/>
        </p:nvSpPr>
        <p:spPr>
          <a:xfrm>
            <a:off x="381000" y="914400"/>
            <a:ext cx="8579015"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2: Providing alert before data will be deleted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CanDelete()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confirm("Are you Sure to delete your Data");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name="btnDelete" value="Delete" onclick ="return CanDelete()" /&gt;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64"/>
          <p:cNvSpPr txBox="1"/>
          <p:nvPr/>
        </p:nvSpPr>
        <p:spPr>
          <a:xfrm>
            <a:off x="304800" y="762000"/>
            <a:ext cx="8001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3: Validate Textboxes for anydata in arithmetic operations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ValidateMathFunction()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FN = document.forms[1].txtFN.value;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SN = document.forms[1].txtSN.value;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(FN == "" || SN ==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alert("Please ensure that data is inserted in both textboxes");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&lt;form action="/" method="post" onsubmit="return ValidateMathFunction()"&gt;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Enter First Number &lt;input type="text" name="txtFN" value="" /&gt; &lt;br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Enter Second Number &lt;input type="text" name="txtSN" value="" /&gt;&lt;br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&lt;input type="submit" name="btnAdd" value="+"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name="btnSub" value="-"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name="btnMul" value="*"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name="btnDel" value="/"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&lt;/form&gt;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65"/>
          <p:cNvSpPr txBox="1"/>
          <p:nvPr/>
        </p:nvSpPr>
        <p:spPr>
          <a:xfrm>
            <a:off x="152400" y="762000"/>
            <a:ext cx="8481617"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4   Denominator cant be zero</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CheckDenominator()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SN = document.forms[1].txtSN.value;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(SN == 0)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alert("Denominator cant be zero");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name="btnDel" value="/" onclick="return CheckDenominator()"/&gt;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6"/>
          <p:cNvSpPr txBox="1"/>
          <p:nvPr/>
        </p:nvSpPr>
        <p:spPr>
          <a:xfrm>
            <a:off x="381000" y="838200"/>
            <a:ext cx="8305800"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5    Whether the values entered in texboxes are numbers   are not?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ValidateMathFunction()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FN = document.forms[1].txtFN.value;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SN = document.forms[1].txtSN.value;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(FN == "" || SN == ""|| isNaN(FN)||isNaN(SN))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alert("Please ensure that valid data is inserted in both textboxes");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false;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true;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7"/>
          <p:cNvSpPr txBox="1"/>
          <p:nvPr/>
        </p:nvSpPr>
        <p:spPr>
          <a:xfrm>
            <a:off x="304800" y="914400"/>
            <a:ext cx="85344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6      Validating Email using Regular Expressions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validateEmail()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emailTextBox = document.getElementById("txtEmail");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email = emailTextBox.value;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emailRegEx = /^(([^&lt;&gt;()[\]\\.,;:\s@\"]+(\.[^&lt;&gt;()[\]\\.,;:\s@\"]+)*)|(\".+\"))@((\[[0-9]{1,3}\.[0-9]{1,3}\.[0-9]{1,3}\.[0-9]{1,3}\])|(([a-zA-Z\-0-9]+\.)+[a-zA-Z]{2,}))$/;</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emailTextBox.style.color = "white";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8"/>
          <p:cNvSpPr txBox="1"/>
          <p:nvPr/>
        </p:nvSpPr>
        <p:spPr>
          <a:xfrm>
            <a:off x="381000" y="990600"/>
            <a:ext cx="830580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if (emailRegEx.test(email))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emailTextBox.style.backgroundColor = "green";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emailTextBox.style.backgroundColor = "red";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&lt;/script&gt;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Email : &lt;input type="text" id="txtEmail" onkeyup="validateEmail()" /&gt;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9"/>
          <p:cNvSpPr txBox="1"/>
          <p:nvPr/>
        </p:nvSpPr>
        <p:spPr>
          <a:xfrm>
            <a:off x="304800" y="685800"/>
            <a:ext cx="86106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Timing Events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 JavaScript a piece of code can be executed at specified time interval</a:t>
            </a:r>
            <a:r>
              <a:rPr lang="en-US" sz="1800">
                <a:solidFill>
                  <a:schemeClr val="dk1"/>
                </a:solidFill>
                <a:latin typeface="Calibri"/>
                <a:ea typeface="Calibri"/>
                <a:cs typeface="Calibri"/>
                <a:sym typeface="Calibri"/>
              </a:rPr>
              <a:t>. For example, you can call a specific JavaScript function every 1 second. This concept in JavaScript is called timing events.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global window object has the following 2 methods that allow us to execute a piece of JavaScript code at specified time intervals.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setInterval(func, delay)</a:t>
            </a:r>
            <a:r>
              <a:rPr lang="en-US" sz="1800">
                <a:solidFill>
                  <a:schemeClr val="dk1"/>
                </a:solidFill>
                <a:latin typeface="Calibri"/>
                <a:ea typeface="Calibri"/>
                <a:cs typeface="Calibri"/>
                <a:sym typeface="Calibri"/>
              </a:rPr>
              <a:t> - Executes a specified function, repeatedly at specified time interval. This method has 2 parameters. The </a:t>
            </a:r>
            <a:r>
              <a:rPr lang="en-US" sz="1800" b="1">
                <a:solidFill>
                  <a:schemeClr val="dk1"/>
                </a:solidFill>
                <a:latin typeface="Calibri"/>
                <a:ea typeface="Calibri"/>
                <a:cs typeface="Calibri"/>
                <a:sym typeface="Calibri"/>
              </a:rPr>
              <a:t>func </a:t>
            </a:r>
            <a:r>
              <a:rPr lang="en-US" sz="1800">
                <a:solidFill>
                  <a:schemeClr val="dk1"/>
                </a:solidFill>
                <a:latin typeface="Calibri"/>
                <a:ea typeface="Calibri"/>
                <a:cs typeface="Calibri"/>
                <a:sym typeface="Calibri"/>
              </a:rPr>
              <a:t>parameter specifies the name of the function to execute. The </a:t>
            </a:r>
            <a:r>
              <a:rPr lang="en-US" sz="1800" b="1">
                <a:solidFill>
                  <a:schemeClr val="dk1"/>
                </a:solidFill>
                <a:latin typeface="Calibri"/>
                <a:ea typeface="Calibri"/>
                <a:cs typeface="Calibri"/>
                <a:sym typeface="Calibri"/>
              </a:rPr>
              <a:t>delay </a:t>
            </a:r>
            <a:r>
              <a:rPr lang="en-US" sz="1800">
                <a:solidFill>
                  <a:schemeClr val="dk1"/>
                </a:solidFill>
                <a:latin typeface="Calibri"/>
                <a:ea typeface="Calibri"/>
                <a:cs typeface="Calibri"/>
                <a:sym typeface="Calibri"/>
              </a:rPr>
              <a:t>parameter specifies the time in milliseconds to wait before calling the specified function.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setTimeout(func, delay)</a:t>
            </a:r>
            <a:r>
              <a:rPr lang="en-US" sz="1800">
                <a:solidFill>
                  <a:schemeClr val="dk1"/>
                </a:solidFill>
                <a:latin typeface="Calibri"/>
                <a:ea typeface="Calibri"/>
                <a:cs typeface="Calibri"/>
                <a:sym typeface="Calibri"/>
              </a:rPr>
              <a:t> - Executes a specified function, after waiting a specified number of milliseconds. This method has 2 parameters. The func parameter specifies the name of the function to execute. The delay parameter specifies the time in milliseconds to wait before calling the specified function. The actual wait time (delay) may be longer.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70"/>
          <p:cNvSpPr txBox="1"/>
          <p:nvPr/>
        </p:nvSpPr>
        <p:spPr>
          <a:xfrm>
            <a:off x="228600" y="838200"/>
            <a:ext cx="868680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following code displays current date and time in the div tag.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getCurrentDateTime()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document.getElementById("timeDiv").innerHTML = new Date();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&lt;div id="timeDiv" &gt;&lt;/div&gt;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onclick="getCurrentDateTime()"&gt;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71"/>
          <p:cNvSpPr txBox="1"/>
          <p:nvPr/>
        </p:nvSpPr>
        <p:spPr>
          <a:xfrm>
            <a:off x="228600" y="838200"/>
            <a:ext cx="8686800"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At the moment the time is static</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 make the time on the page dynamic, modify the script as shown below. Notice that the time is now updated every second. In this example, we are using setInterval() method and calling getCurrentDateTime() function every 1000 milli-seconds.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setInterval(getCurrentDateTime, 1000);</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getCurrentDateTime()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document.getElementById("timeDiv").innerHTML = new Date();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&lt;div id="timeDiv" &gt;&lt;/div&gt;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72"/>
          <p:cNvSpPr txBox="1"/>
          <p:nvPr/>
        </p:nvSpPr>
        <p:spPr>
          <a:xfrm>
            <a:off x="228600" y="914400"/>
            <a:ext cx="89154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Starting and stopping the clock with button click : </a:t>
            </a:r>
            <a:r>
              <a:rPr lang="en-US" sz="1800">
                <a:solidFill>
                  <a:schemeClr val="dk1"/>
                </a:solidFill>
                <a:latin typeface="Calibri"/>
                <a:ea typeface="Calibri"/>
                <a:cs typeface="Calibri"/>
                <a:sym typeface="Calibri"/>
              </a:rPr>
              <a:t>In this example, </a:t>
            </a:r>
            <a:r>
              <a:rPr lang="en-US" sz="1800" b="1">
                <a:solidFill>
                  <a:schemeClr val="dk1"/>
                </a:solidFill>
                <a:latin typeface="Calibri"/>
                <a:ea typeface="Calibri"/>
                <a:cs typeface="Calibri"/>
                <a:sym typeface="Calibri"/>
              </a:rPr>
              <a:t>setInterval()</a:t>
            </a:r>
            <a:r>
              <a:rPr lang="en-US" sz="1800">
                <a:solidFill>
                  <a:schemeClr val="dk1"/>
                </a:solidFill>
                <a:latin typeface="Calibri"/>
                <a:ea typeface="Calibri"/>
                <a:cs typeface="Calibri"/>
                <a:sym typeface="Calibri"/>
              </a:rPr>
              <a:t>method returns the </a:t>
            </a:r>
            <a:r>
              <a:rPr lang="en-US" sz="1800" b="1">
                <a:solidFill>
                  <a:schemeClr val="dk1"/>
                </a:solidFill>
                <a:latin typeface="Calibri"/>
                <a:ea typeface="Calibri"/>
                <a:cs typeface="Calibri"/>
                <a:sym typeface="Calibri"/>
              </a:rPr>
              <a:t>intervalId </a:t>
            </a:r>
            <a:r>
              <a:rPr lang="en-US" sz="1800">
                <a:solidFill>
                  <a:schemeClr val="dk1"/>
                </a:solidFill>
                <a:latin typeface="Calibri"/>
                <a:ea typeface="Calibri"/>
                <a:cs typeface="Calibri"/>
                <a:sym typeface="Calibri"/>
              </a:rPr>
              <a:t>which is then passed to </a:t>
            </a:r>
            <a:r>
              <a:rPr lang="en-US" sz="1800" b="1">
                <a:solidFill>
                  <a:schemeClr val="dk1"/>
                </a:solidFill>
                <a:latin typeface="Calibri"/>
                <a:ea typeface="Calibri"/>
                <a:cs typeface="Calibri"/>
                <a:sym typeface="Calibri"/>
              </a:rPr>
              <a:t>clearInterval() </a:t>
            </a:r>
            <a:r>
              <a:rPr lang="en-US" sz="1800">
                <a:solidFill>
                  <a:schemeClr val="dk1"/>
                </a:solidFill>
                <a:latin typeface="Calibri"/>
                <a:ea typeface="Calibri"/>
                <a:cs typeface="Calibri"/>
                <a:sym typeface="Calibri"/>
              </a:rPr>
              <a:t>method. When you click the </a:t>
            </a:r>
            <a:r>
              <a:rPr lang="en-US" sz="1800" b="1">
                <a:solidFill>
                  <a:schemeClr val="dk1"/>
                </a:solidFill>
                <a:latin typeface="Calibri"/>
                <a:ea typeface="Calibri"/>
                <a:cs typeface="Calibri"/>
                <a:sym typeface="Calibri"/>
              </a:rPr>
              <a:t>"Start Clock" </a:t>
            </a:r>
            <a:r>
              <a:rPr lang="en-US" sz="1800">
                <a:solidFill>
                  <a:schemeClr val="dk1"/>
                </a:solidFill>
                <a:latin typeface="Calibri"/>
                <a:ea typeface="Calibri"/>
                <a:cs typeface="Calibri"/>
                <a:sym typeface="Calibri"/>
              </a:rPr>
              <a:t>button the clock is updated with new time every second, and when you click </a:t>
            </a:r>
            <a:r>
              <a:rPr lang="en-US" sz="1800" b="1">
                <a:solidFill>
                  <a:schemeClr val="dk1"/>
                </a:solidFill>
                <a:latin typeface="Calibri"/>
                <a:ea typeface="Calibri"/>
                <a:cs typeface="Calibri"/>
                <a:sym typeface="Calibri"/>
              </a:rPr>
              <a:t>"Stop Clock" </a:t>
            </a:r>
            <a:r>
              <a:rPr lang="en-US" sz="1800">
                <a:solidFill>
                  <a:schemeClr val="dk1"/>
                </a:solidFill>
                <a:latin typeface="Calibri"/>
                <a:ea typeface="Calibri"/>
                <a:cs typeface="Calibri"/>
                <a:sym typeface="Calibri"/>
              </a:rPr>
              <a:t>button it stops the clock.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intervalId;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startClock()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intervalId = setInterval(getCurrentDateTime, 1000);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stopClock()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clearInterval(intervalId);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73"/>
          <p:cNvSpPr txBox="1"/>
          <p:nvPr/>
        </p:nvSpPr>
        <p:spPr>
          <a:xfrm>
            <a:off x="152400" y="914400"/>
            <a:ext cx="876300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getCurrentDateTime()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document.getElementById("timeDiv").innerHTML= new Date();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&lt;div id="timeDiv" &gt;&lt;/div&gt; &lt;br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type="button" value="Start Clock" onclick="startClock()"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type="button" value="Stop Clock" onclick="stopClock()"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4"/>
          <p:cNvSpPr txBox="1"/>
          <p:nvPr/>
        </p:nvSpPr>
        <p:spPr>
          <a:xfrm>
            <a:off x="152401" y="838200"/>
            <a:ext cx="8762999"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Now let's look at example of using </a:t>
            </a:r>
            <a:r>
              <a:rPr lang="en-US" sz="1800" b="1">
                <a:solidFill>
                  <a:schemeClr val="dk1"/>
                </a:solidFill>
                <a:latin typeface="Calibri"/>
                <a:ea typeface="Calibri"/>
                <a:cs typeface="Calibri"/>
                <a:sym typeface="Calibri"/>
              </a:rPr>
              <a:t>setTimeout</a:t>
            </a:r>
            <a:r>
              <a:rPr lang="en-US" sz="1800">
                <a:solidFill>
                  <a:schemeClr val="dk1"/>
                </a:solidFill>
                <a:latin typeface="Calibri"/>
                <a:ea typeface="Calibri"/>
                <a:cs typeface="Calibri"/>
                <a:sym typeface="Calibri"/>
              </a:rPr>
              <a:t>() and </a:t>
            </a:r>
            <a:r>
              <a:rPr lang="en-US" sz="1800" b="1">
                <a:solidFill>
                  <a:schemeClr val="dk1"/>
                </a:solidFill>
                <a:latin typeface="Calibri"/>
                <a:ea typeface="Calibri"/>
                <a:cs typeface="Calibri"/>
                <a:sym typeface="Calibri"/>
              </a:rPr>
              <a:t>clearTimeout</a:t>
            </a:r>
            <a:r>
              <a:rPr lang="en-US" sz="1800">
                <a:solidFill>
                  <a:schemeClr val="dk1"/>
                </a:solidFill>
                <a:latin typeface="Calibri"/>
                <a:ea typeface="Calibri"/>
                <a:cs typeface="Calibri"/>
                <a:sym typeface="Calibri"/>
              </a:rPr>
              <a:t>() functions. The syntax and usage of these 2 functions is very similar to </a:t>
            </a:r>
            <a:r>
              <a:rPr lang="en-US" sz="1800" b="1">
                <a:solidFill>
                  <a:schemeClr val="dk1"/>
                </a:solidFill>
                <a:latin typeface="Calibri"/>
                <a:ea typeface="Calibri"/>
                <a:cs typeface="Calibri"/>
                <a:sym typeface="Calibri"/>
              </a:rPr>
              <a:t>setInterval</a:t>
            </a:r>
            <a:r>
              <a:rPr lang="en-US" sz="1800">
                <a:solidFill>
                  <a:schemeClr val="dk1"/>
                </a:solidFill>
                <a:latin typeface="Calibri"/>
                <a:ea typeface="Calibri"/>
                <a:cs typeface="Calibri"/>
                <a:sym typeface="Calibri"/>
              </a:rPr>
              <a:t>() and </a:t>
            </a:r>
            <a:r>
              <a:rPr lang="en-US" sz="1800" b="1">
                <a:solidFill>
                  <a:schemeClr val="dk1"/>
                </a:solidFill>
                <a:latin typeface="Calibri"/>
                <a:ea typeface="Calibri"/>
                <a:cs typeface="Calibri"/>
                <a:sym typeface="Calibri"/>
              </a:rPr>
              <a:t>clearInterval</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b="1">
                <a:solidFill>
                  <a:schemeClr val="dk1"/>
                </a:solidFill>
                <a:latin typeface="Calibri"/>
                <a:ea typeface="Calibri"/>
                <a:cs typeface="Calibri"/>
                <a:sym typeface="Calibri"/>
              </a:rPr>
              <a:t>Countdown timer example :</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When we click </a:t>
            </a:r>
            <a:r>
              <a:rPr lang="en-US" sz="1800" b="1">
                <a:solidFill>
                  <a:schemeClr val="dk1"/>
                </a:solidFill>
                <a:latin typeface="Calibri"/>
                <a:ea typeface="Calibri"/>
                <a:cs typeface="Calibri"/>
                <a:sym typeface="Calibri"/>
              </a:rPr>
              <a:t>"Start Timer" </a:t>
            </a:r>
            <a:r>
              <a:rPr lang="en-US" sz="1800">
                <a:solidFill>
                  <a:schemeClr val="dk1"/>
                </a:solidFill>
                <a:latin typeface="Calibri"/>
                <a:ea typeface="Calibri"/>
                <a:cs typeface="Calibri"/>
                <a:sym typeface="Calibri"/>
              </a:rPr>
              <a:t>button, the value 10 displayed in the textbox must start counting down. When click </a:t>
            </a:r>
            <a:r>
              <a:rPr lang="en-US" sz="1800" b="1">
                <a:solidFill>
                  <a:schemeClr val="dk1"/>
                </a:solidFill>
                <a:latin typeface="Calibri"/>
                <a:ea typeface="Calibri"/>
                <a:cs typeface="Calibri"/>
                <a:sym typeface="Calibri"/>
              </a:rPr>
              <a:t>"Stop Timer" </a:t>
            </a:r>
            <a:r>
              <a:rPr lang="en-US" sz="1800">
                <a:solidFill>
                  <a:schemeClr val="dk1"/>
                </a:solidFill>
                <a:latin typeface="Calibri"/>
                <a:ea typeface="Calibri"/>
                <a:cs typeface="Calibri"/>
                <a:sym typeface="Calibri"/>
              </a:rPr>
              <a:t>the countdown should stop. When you click </a:t>
            </a:r>
            <a:r>
              <a:rPr lang="en-US" sz="1800" b="1">
                <a:solidFill>
                  <a:schemeClr val="dk1"/>
                </a:solidFill>
                <a:latin typeface="Calibri"/>
                <a:ea typeface="Calibri"/>
                <a:cs typeface="Calibri"/>
                <a:sym typeface="Calibri"/>
              </a:rPr>
              <a:t>"Start Timer" </a:t>
            </a:r>
            <a:r>
              <a:rPr lang="en-US" sz="1800">
                <a:solidFill>
                  <a:schemeClr val="dk1"/>
                </a:solidFill>
                <a:latin typeface="Calibri"/>
                <a:ea typeface="Calibri"/>
                <a:cs typeface="Calibri"/>
                <a:sym typeface="Calibri"/>
              </a:rPr>
              <a:t>again, it should start counting down from where it stopped and when it reaches ZERO, it should display </a:t>
            </a:r>
            <a:r>
              <a:rPr lang="en-US" sz="1800" b="1">
                <a:solidFill>
                  <a:schemeClr val="dk1"/>
                </a:solidFill>
                <a:latin typeface="Calibri"/>
                <a:ea typeface="Calibri"/>
                <a:cs typeface="Calibri"/>
                <a:sym typeface="Calibri"/>
              </a:rPr>
              <a:t>Done </a:t>
            </a:r>
            <a:r>
              <a:rPr lang="en-US" sz="1800">
                <a:solidFill>
                  <a:schemeClr val="dk1"/>
                </a:solidFill>
                <a:latin typeface="Calibri"/>
                <a:ea typeface="Calibri"/>
                <a:cs typeface="Calibri"/>
                <a:sym typeface="Calibri"/>
              </a:rPr>
              <a:t>in the textbox and function should return.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97" name="Google Shape;397;p74" descr="timing events in javascript"/>
          <p:cNvPicPr preferRelativeResize="0"/>
          <p:nvPr/>
        </p:nvPicPr>
        <p:blipFill rotWithShape="1">
          <a:blip r:embed="rId3">
            <a:alphaModFix/>
          </a:blip>
          <a:srcRect/>
          <a:stretch/>
        </p:blipFill>
        <p:spPr>
          <a:xfrm>
            <a:off x="1676400" y="3886200"/>
            <a:ext cx="4495800" cy="18288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75"/>
          <p:cNvSpPr txBox="1"/>
          <p:nvPr/>
        </p:nvSpPr>
        <p:spPr>
          <a:xfrm>
            <a:off x="304800" y="838200"/>
            <a:ext cx="81534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&lt;!DOCTYPE 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intervalId;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startTimer(controlId)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control = document.getElementById(controlId);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seconds = control.value;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seconds = seconds - 1;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(seconds == 0)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control.value = "Done";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control.value = seconds;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76"/>
          <p:cNvSpPr txBox="1"/>
          <p:nvPr/>
        </p:nvSpPr>
        <p:spPr>
          <a:xfrm>
            <a:off x="152400" y="838200"/>
            <a:ext cx="83058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intervalId = setTimeout(function () { startTimer('txtBox'); }, 1000);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stopTimer()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clearTimeout(intervalId);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type="text" value="10" id="txtBox"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&lt;br /&gt;&lt;br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type="button" value="Start Timer" onclick="startTimer('txtBox')"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type="button" value="Stop Timer" onclick="stopTimer()"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77"/>
          <p:cNvSpPr txBox="1"/>
          <p:nvPr/>
        </p:nvSpPr>
        <p:spPr>
          <a:xfrm>
            <a:off x="228600" y="762000"/>
            <a:ext cx="86868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Image Slideshow</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slideshow should be as shown in the image below.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When you click </a:t>
            </a:r>
            <a:r>
              <a:rPr lang="en-US" sz="1800" b="1">
                <a:solidFill>
                  <a:schemeClr val="dk1"/>
                </a:solidFill>
                <a:latin typeface="Calibri"/>
                <a:ea typeface="Calibri"/>
                <a:cs typeface="Calibri"/>
                <a:sym typeface="Calibri"/>
              </a:rPr>
              <a:t>"Start Slide Show"</a:t>
            </a:r>
            <a:r>
              <a:rPr lang="en-US" sz="1800">
                <a:solidFill>
                  <a:schemeClr val="dk1"/>
                </a:solidFill>
                <a:latin typeface="Calibri"/>
                <a:ea typeface="Calibri"/>
                <a:cs typeface="Calibri"/>
                <a:sym typeface="Calibri"/>
              </a:rPr>
              <a:t> button the image slideshow should start and when you click the </a:t>
            </a:r>
            <a:r>
              <a:rPr lang="en-US" sz="1800" b="1">
                <a:solidFill>
                  <a:schemeClr val="dk1"/>
                </a:solidFill>
                <a:latin typeface="Calibri"/>
                <a:ea typeface="Calibri"/>
                <a:cs typeface="Calibri"/>
                <a:sym typeface="Calibri"/>
              </a:rPr>
              <a:t>"Stop Slide Show"</a:t>
            </a:r>
            <a:r>
              <a:rPr lang="en-US" sz="1800">
                <a:solidFill>
                  <a:schemeClr val="dk1"/>
                </a:solidFill>
                <a:latin typeface="Calibri"/>
                <a:ea typeface="Calibri"/>
                <a:cs typeface="Calibri"/>
                <a:sym typeface="Calibri"/>
              </a:rPr>
              <a:t> button the image slideshow should stop. </a:t>
            </a:r>
            <a:endParaRPr sz="1800">
              <a:solidFill>
                <a:schemeClr val="dk1"/>
              </a:solidFill>
              <a:latin typeface="Calibri"/>
              <a:ea typeface="Calibri"/>
              <a:cs typeface="Calibri"/>
              <a:sym typeface="Calibri"/>
            </a:endParaRPr>
          </a:p>
        </p:txBody>
      </p:sp>
      <p:pic>
        <p:nvPicPr>
          <p:cNvPr id="413" name="Google Shape;413;p77" descr="C:\Users\DELL\Desktop\javascript image slideshow.png"/>
          <p:cNvPicPr preferRelativeResize="0"/>
          <p:nvPr/>
        </p:nvPicPr>
        <p:blipFill rotWithShape="1">
          <a:blip r:embed="rId3">
            <a:alphaModFix/>
          </a:blip>
          <a:srcRect/>
          <a:stretch/>
        </p:blipFill>
        <p:spPr>
          <a:xfrm>
            <a:off x="1752600" y="1828800"/>
            <a:ext cx="4572000" cy="253841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78"/>
          <p:cNvSpPr txBox="1"/>
          <p:nvPr/>
        </p:nvSpPr>
        <p:spPr>
          <a:xfrm>
            <a:off x="228600" y="914400"/>
            <a:ext cx="86868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 type="text/javascript"&gt;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intervalId;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startImageSlideShow()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intervalId = setInterval(setImage, 500);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stopImageSlideShow()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clearInterval(intervalId);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function setImage()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imageSrc = document.getElementById("image").getAttribute("src");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currentImageNumber = imageSrc.substring(imageSrc.lastIndexOf("/") + 1,imageSrc.lastIndexOf("/") + 2);</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79"/>
          <p:cNvSpPr txBox="1"/>
          <p:nvPr/>
        </p:nvSpPr>
        <p:spPr>
          <a:xfrm>
            <a:off x="228600" y="838200"/>
            <a:ext cx="86106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if (currentImageNumber == 6)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currentImageNumber = 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document.getElementById("image").setAttribute("src", "Images/"  +     (Number(currentImageNumber) + 1) + ".jpg");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&lt;img id="image" src="Images/1.jpg" style="width: 500px; height: 150px"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&lt;br /&gt; &lt;br /&gt; &lt;br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type="button" value="Start Slide Show" onclick="startImageSlideShow()"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type="button" value="Stop Slide Show" onclick="stopImageSlideShow()" /&gt;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80"/>
          <p:cNvSpPr txBox="1"/>
          <p:nvPr/>
        </p:nvSpPr>
        <p:spPr>
          <a:xfrm>
            <a:off x="152400" y="762000"/>
            <a:ext cx="8610600" cy="67403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Recursive Function in JavaScript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Recursion is a programming concept that is applicable to all programming languages including JavaScript</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Recursive function is function that calls itself. </a:t>
            </a: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When writing recursive functions </a:t>
            </a:r>
            <a:r>
              <a:rPr lang="en-US" sz="1800" b="1">
                <a:solidFill>
                  <a:schemeClr val="dk1"/>
                </a:solidFill>
                <a:latin typeface="Calibri"/>
                <a:ea typeface="Calibri"/>
                <a:cs typeface="Calibri"/>
                <a:sym typeface="Calibri"/>
              </a:rPr>
              <a:t>there must be a definite break condition</a:t>
            </a:r>
            <a:r>
              <a:rPr lang="en-US" sz="1800">
                <a:solidFill>
                  <a:schemeClr val="dk1"/>
                </a:solidFill>
                <a:latin typeface="Calibri"/>
                <a:ea typeface="Calibri"/>
                <a:cs typeface="Calibri"/>
                <a:sym typeface="Calibri"/>
              </a:rPr>
              <a:t>, otherwise we risk creating infinite loops.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a:t>
            </a:r>
            <a:r>
              <a:rPr lang="en-US" sz="1800">
                <a:solidFill>
                  <a:schemeClr val="dk1"/>
                </a:solidFill>
                <a:latin typeface="Calibri"/>
                <a:ea typeface="Calibri"/>
                <a:cs typeface="Calibri"/>
                <a:sym typeface="Calibri"/>
              </a:rPr>
              <a:t> Computing the factorial of a number without recursion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factorial(n)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(n == 0 || n == 1)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81"/>
          <p:cNvSpPr txBox="1"/>
          <p:nvPr/>
        </p:nvSpPr>
        <p:spPr>
          <a:xfrm>
            <a:off x="304800" y="914400"/>
            <a:ext cx="83058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var result = 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while (n &gt; 1)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result = result * (n - 1)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n = n - 1;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result;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document.write(factorial(5));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82"/>
          <p:cNvSpPr txBox="1"/>
          <p:nvPr/>
        </p:nvSpPr>
        <p:spPr>
          <a:xfrm>
            <a:off x="228600" y="762000"/>
            <a:ext cx="8763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 </a:t>
            </a:r>
            <a:r>
              <a:rPr lang="en-US" sz="1800">
                <a:solidFill>
                  <a:schemeClr val="dk1"/>
                </a:solidFill>
                <a:latin typeface="Calibri"/>
                <a:ea typeface="Calibri"/>
                <a:cs typeface="Calibri"/>
                <a:sym typeface="Calibri"/>
              </a:rPr>
              <a:t>Computing the factorial of a number using a recursive function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factorial(n)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(n == 0 || n == 1)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return n * factorial(n - 1);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document.write(factorial(5));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83"/>
          <p:cNvSpPr txBox="1"/>
          <p:nvPr/>
        </p:nvSpPr>
        <p:spPr>
          <a:xfrm>
            <a:off x="304800" y="685800"/>
            <a:ext cx="8534400" cy="67403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Error handling in JavaScript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Use try/catch/finally to handle runtime errors in JavaScript.</a:t>
            </a:r>
            <a:r>
              <a:rPr lang="en-US" sz="1800">
                <a:solidFill>
                  <a:schemeClr val="dk1"/>
                </a:solidFill>
                <a:latin typeface="Calibri"/>
                <a:ea typeface="Calibri"/>
                <a:cs typeface="Calibri"/>
                <a:sym typeface="Calibri"/>
              </a:rPr>
              <a:t> These runtime errors are called exceptions. An exception can occur for a variety of reasons. For example, referencing a variable or a method that is not defined can cause an exception.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The JavaScript statements that can possibly cause exceptions should be wrapped inside a try block</a:t>
            </a:r>
            <a:r>
              <a:rPr lang="en-US" sz="1800">
                <a:solidFill>
                  <a:schemeClr val="dk1"/>
                </a:solidFill>
                <a:latin typeface="Calibri"/>
                <a:ea typeface="Calibri"/>
                <a:cs typeface="Calibri"/>
                <a:sym typeface="Calibri"/>
              </a:rPr>
              <a:t>. When a specific line in the try block causes an exception, the control is immediately transferred to the catch block skipping the rest of the code in the try block.</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try catch example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Referencing a function that does not exist cause an exception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document.write(sayHello());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Since the above line causes an exception, the following line will not be executed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document.write("This line will not be executed");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84"/>
          <p:cNvSpPr txBox="1"/>
          <p:nvPr/>
        </p:nvSpPr>
        <p:spPr>
          <a:xfrm>
            <a:off x="228600" y="533400"/>
            <a:ext cx="8534400" cy="64149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When an exception occurs, the control is transferred to the catch block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catch (e)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document.write("Description = " + e.description + "&lt;br/&gt;");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document.write("Message = " + e.message + "&lt;br/&gt;");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document.write("Stack = " + e.stack + "&lt;br/&gt;&lt;br/&gt;");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Please note :</a:t>
            </a:r>
            <a:r>
              <a:rPr lang="en-US" sz="1800">
                <a:solidFill>
                  <a:schemeClr val="dk1"/>
                </a:solidFill>
                <a:latin typeface="Calibri"/>
                <a:ea typeface="Calibri"/>
                <a:cs typeface="Calibri"/>
                <a:sym typeface="Calibri"/>
              </a:rPr>
              <a:t> A try block should be followed by a catch block or finally block or both.</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r>
              <a:rPr lang="en-US" sz="1800" b="1">
                <a:solidFill>
                  <a:schemeClr val="dk1"/>
                </a:solidFill>
                <a:latin typeface="Calibri"/>
                <a:ea typeface="Calibri"/>
                <a:cs typeface="Calibri"/>
                <a:sym typeface="Calibri"/>
              </a:rPr>
              <a:t>finally block is guaranteed to execute irrespective of whether there is an exception or not.</a:t>
            </a:r>
            <a:r>
              <a:rPr lang="en-US" sz="1800">
                <a:solidFill>
                  <a:schemeClr val="dk1"/>
                </a:solidFill>
                <a:latin typeface="Calibri"/>
                <a:ea typeface="Calibri"/>
                <a:cs typeface="Calibri"/>
                <a:sym typeface="Calibri"/>
              </a:rPr>
              <a:t> It is generally used to clean and free resources that the script was holding onto during the program execution. For example, if your script in the try block has opened a file for processing, and if there is an exception, the finally block can be used to close the file.</a:t>
            </a:r>
            <a:endParaRPr sz="18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85"/>
          <p:cNvSpPr txBox="1"/>
          <p:nvPr/>
        </p:nvSpPr>
        <p:spPr>
          <a:xfrm>
            <a:off x="304800" y="609600"/>
            <a:ext cx="8118889"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with finally block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Referencing a function that does not exist cause an exception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document.write(sayHello());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Since the above line causes an exception, the following line will not be executed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document.write("This line will not be executed");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an exception occurs, the control is transferred to the catch block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catch (e)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document.write("Description = " + e.description + "&lt;br/&gt;");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document.write("Message = " + e.message + "&lt;br/&gt;");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document.write("Stack = " + e.stack + "&lt;br/&gt;&lt;br/&gt;");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86"/>
          <p:cNvSpPr txBox="1"/>
          <p:nvPr/>
        </p:nvSpPr>
        <p:spPr>
          <a:xfrm>
            <a:off x="228600" y="762000"/>
            <a:ext cx="861060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finally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document.write("This line is guaranteed to execute");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Syntax errors and exceptions in JavaScript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try/catch/finally block can catch exceptions but not syntax errors.</a:t>
            </a: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b="1">
                <a:solidFill>
                  <a:schemeClr val="dk1"/>
                </a:solidFill>
                <a:latin typeface="Calibri"/>
                <a:ea typeface="Calibri"/>
                <a:cs typeface="Calibri"/>
                <a:sym typeface="Calibri"/>
              </a:rPr>
              <a:t>Example : </a:t>
            </a:r>
            <a:r>
              <a:rPr lang="en-US" sz="1800">
                <a:solidFill>
                  <a:schemeClr val="dk1"/>
                </a:solidFill>
                <a:latin typeface="Calibri"/>
                <a:ea typeface="Calibri"/>
                <a:cs typeface="Calibri"/>
                <a:sym typeface="Calibri"/>
              </a:rPr>
              <a:t>In the example, below we have a syntax error - missing the closing parentheses. The associated catch block will not catch the syntax errors.</a:t>
            </a:r>
            <a:endParaRPr sz="18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87"/>
          <p:cNvSpPr txBox="1"/>
          <p:nvPr/>
        </p:nvSpPr>
        <p:spPr>
          <a:xfrm>
            <a:off x="381000" y="838200"/>
            <a:ext cx="7842788"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abc()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alert("Hello";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When an exception occurs, the control is transferred to the catch block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catch (e)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document.write("JavaScript syntax errors cannot be caught in the catch block");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onclick="abc()"&gt;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88"/>
          <p:cNvSpPr txBox="1"/>
          <p:nvPr/>
        </p:nvSpPr>
        <p:spPr>
          <a:xfrm>
            <a:off x="228600" y="838200"/>
            <a:ext cx="8502264"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throw statement :</a:t>
            </a:r>
            <a:r>
              <a:rPr lang="en-US" sz="1800">
                <a:solidFill>
                  <a:schemeClr val="dk1"/>
                </a:solidFill>
                <a:latin typeface="Calibri"/>
                <a:ea typeface="Calibri"/>
                <a:cs typeface="Calibri"/>
                <a:sym typeface="Calibri"/>
              </a:rPr>
              <a:t> Use the throw statement to raise a customized exceptions.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JavaScript throw exception example :</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 divide()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numerator = Number(prompt("Enter numerator"));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var denominator = Number(prompt("Enter denominator"));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if (denominator == 0)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throw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error: "Divide by zero error",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message: "Denominator cannot be zero"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89"/>
          <p:cNvSpPr txBox="1"/>
          <p:nvPr/>
        </p:nvSpPr>
        <p:spPr>
          <a:xfrm>
            <a:off x="228600" y="914400"/>
            <a:ext cx="81534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else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alert("Result = " + (numerator / denominator));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catch (e)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document.write(e.error + "&lt;br/&gt;");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document.write(e.message + "&lt;br/&gt;");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&lt;/script&gt;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&lt;head&gt;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&lt;input type="submit" onclick="divide()"&gt;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&lt;/body&gt;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7817</Words>
  <Application>Microsoft Office PowerPoint</Application>
  <PresentationFormat>On-screen Show (4:3)</PresentationFormat>
  <Paragraphs>1312</Paragraphs>
  <Slides>77</Slides>
  <Notes>77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Noto Sans Symbols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PRAJOT NIKAM</cp:lastModifiedBy>
  <cp:revision>1</cp:revision>
  <dcterms:modified xsi:type="dcterms:W3CDTF">2023-12-31T12:16:24Z</dcterms:modified>
</cp:coreProperties>
</file>