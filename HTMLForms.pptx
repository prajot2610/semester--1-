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937720-9134-43CC-8340-04EDB98F8AE3}">
  <a:tblStyle styleId="{25937720-9134-43CC-8340-04EDB98F8AE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nvSpPr>
        <p:spPr>
          <a:xfrm>
            <a:off x="381000" y="685800"/>
            <a:ext cx="7772400" cy="71096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Calibri"/>
                <a:ea typeface="Calibri"/>
                <a:cs typeface="Calibri"/>
                <a:sym typeface="Calibri"/>
              </a:rPr>
              <a:t>HTML Forms</a:t>
            </a:r>
            <a:endParaRPr sz="2400">
              <a:solidFill>
                <a:schemeClr val="dk1"/>
              </a:solidFill>
              <a:latin typeface="Calibri"/>
              <a:ea typeface="Calibri"/>
              <a:cs typeface="Calibri"/>
              <a:sym typeface="Calibri"/>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HTML Forms are required when you want to collect some data from the site visitor. For example during user registration you would like to collect information such as name, email address, credit card, etc.</a:t>
            </a:r>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A form will take input from the site visitor and then will post it to a back-end application such as CGI, ASP Script or PHP script etc. The back-end application will perform required processing on the passed data based on defined business logic inside the application.</a:t>
            </a:r>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just">
              <a:spcBef>
                <a:spcPts val="0"/>
              </a:spcBef>
              <a:spcAft>
                <a:spcPts val="0"/>
              </a:spcAft>
              <a:buNone/>
            </a:pPr>
            <a:r>
              <a:rPr lang="en-US" sz="2000">
                <a:solidFill>
                  <a:schemeClr val="dk1"/>
                </a:solidFill>
                <a:latin typeface="Calibri"/>
                <a:ea typeface="Calibri"/>
                <a:cs typeface="Calibri"/>
                <a:sym typeface="Calibri"/>
              </a:rPr>
              <a:t>There are various form elements available like text fields, text area fields, drop-down menus, radio buttons, checkboxes, etc.</a:t>
            </a:r>
            <a:endParaRPr/>
          </a:p>
          <a:p>
            <a:pPr indent="0" lvl="0" marL="0" marR="0" rtl="0" algn="just">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The HTML </a:t>
            </a:r>
            <a:r>
              <a:rPr b="1" lang="en-US" sz="2000">
                <a:solidFill>
                  <a:schemeClr val="dk1"/>
                </a:solidFill>
                <a:latin typeface="Calibri"/>
                <a:ea typeface="Calibri"/>
                <a:cs typeface="Calibri"/>
                <a:sym typeface="Calibri"/>
              </a:rPr>
              <a:t>&lt;form&gt;</a:t>
            </a:r>
            <a:r>
              <a:rPr lang="en-US" sz="2000">
                <a:solidFill>
                  <a:schemeClr val="dk1"/>
                </a:solidFill>
                <a:latin typeface="Calibri"/>
                <a:ea typeface="Calibri"/>
                <a:cs typeface="Calibri"/>
                <a:sym typeface="Calibri"/>
              </a:rPr>
              <a:t> tag is used to create an HTML form and it has following syntax:</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&lt;form action="Script URL" method="GET|POST"&gt;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form elements like input, textarea etc.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&lt;/form&gt;</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sp>
        <p:nvSpPr>
          <p:cNvPr id="89" name="Google Shape;89;p13"/>
          <p:cNvSpPr/>
          <p:nvPr/>
        </p:nvSpPr>
        <p:spPr>
          <a:xfrm>
            <a:off x="304800" y="609600"/>
            <a:ext cx="8382000" cy="46782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 </a:t>
            </a:r>
            <a:br>
              <a:rPr lang="en-US" sz="1800">
                <a:solidFill>
                  <a:schemeClr val="dk1"/>
                </a:solidFill>
                <a:latin typeface="Times New Roman"/>
                <a:ea typeface="Times New Roman"/>
                <a:cs typeface="Times New Roman"/>
                <a:sym typeface="Times New Roman"/>
              </a:rPr>
            </a:br>
            <a:endParaRPr b="1" sz="1800" u="sng">
              <a:solidFill>
                <a:srgbClr val="00808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800"/>
              <a:buFont typeface="Calibri"/>
              <a:buNone/>
            </a:pPr>
            <a:r>
              <a:t/>
            </a:r>
            <a:endParaRPr b="1" i="0" sz="1800" u="sng" cap="none" strike="noStrike">
              <a:solidFill>
                <a:srgbClr val="00808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sz="1300" u="sng">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300"/>
              <a:buFont typeface="Calibri"/>
              <a:buNone/>
            </a:pPr>
            <a:r>
              <a:t/>
            </a:r>
            <a:endParaRPr b="1" i="0" sz="1300" u="sng" cap="none" strike="noStrike">
              <a:solidFill>
                <a:srgbClr val="00808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90" name="Google Shape;90;p13"/>
          <p:cNvSpPr txBox="1"/>
          <p:nvPr/>
        </p:nvSpPr>
        <p:spPr>
          <a:xfrm>
            <a:off x="381000" y="1524000"/>
            <a:ext cx="85344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br>
              <a:rPr lang="en-US" sz="1800">
                <a:solidFill>
                  <a:schemeClr val="dk1"/>
                </a:solidFill>
                <a:latin typeface="Times New Roman"/>
                <a:ea typeface="Times New Roman"/>
                <a:cs typeface="Times New Roman"/>
                <a:sym typeface="Times New Roman"/>
              </a:rPr>
            </a:b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nvSpPr>
        <p:spPr>
          <a:xfrm>
            <a:off x="228601" y="609600"/>
            <a:ext cx="8610600" cy="4308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HTML Form Controls</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There are different types of form controls that you can use to collect data using HTML form:</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114300" lvl="0" marL="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Text Input Controls</a:t>
            </a:r>
            <a:endParaRPr/>
          </a:p>
          <a:p>
            <a:pPr indent="-114300" lvl="0" marL="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Checkboxes Controls</a:t>
            </a:r>
            <a:endParaRPr/>
          </a:p>
          <a:p>
            <a:pPr indent="-114300" lvl="0" marL="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Radio Box Controls</a:t>
            </a:r>
            <a:endParaRPr/>
          </a:p>
          <a:p>
            <a:pPr indent="-114300" lvl="0" marL="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Select Box Controls</a:t>
            </a:r>
            <a:endParaRPr/>
          </a:p>
          <a:p>
            <a:pPr indent="-114300" lvl="0" marL="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File Select boxes</a:t>
            </a:r>
            <a:endParaRPr/>
          </a:p>
          <a:p>
            <a:pPr indent="-114300" lvl="0" marL="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Clickable Buttons</a:t>
            </a:r>
            <a:endParaRPr/>
          </a:p>
          <a:p>
            <a:pPr indent="-114300" lvl="0" marL="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    Submit and Reset Button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304800" y="609600"/>
            <a:ext cx="8534401" cy="37240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Text Input Controls</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There are three types of text input used on forms: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Single-line text input controls -</a:t>
            </a:r>
            <a:r>
              <a:rPr lang="en-US" sz="1800">
                <a:solidFill>
                  <a:schemeClr val="dk1"/>
                </a:solidFill>
                <a:latin typeface="Calibri"/>
                <a:ea typeface="Calibri"/>
                <a:cs typeface="Calibri"/>
                <a:sym typeface="Calibri"/>
              </a:rPr>
              <a:t> This control is used for items that require only one line of user input, such as search boxes or names. They are created using HTML </a:t>
            </a:r>
            <a:r>
              <a:rPr b="1" lang="en-US" sz="1800">
                <a:solidFill>
                  <a:schemeClr val="dk1"/>
                </a:solidFill>
                <a:latin typeface="Calibri"/>
                <a:ea typeface="Calibri"/>
                <a:cs typeface="Calibri"/>
                <a:sym typeface="Calibri"/>
              </a:rPr>
              <a:t>&lt;input&gt;</a:t>
            </a:r>
            <a:r>
              <a:rPr lang="en-US" sz="1800">
                <a:solidFill>
                  <a:schemeClr val="dk1"/>
                </a:solidFill>
                <a:latin typeface="Calibri"/>
                <a:ea typeface="Calibri"/>
                <a:cs typeface="Calibri"/>
                <a:sym typeface="Calibri"/>
              </a:rPr>
              <a:t> tag.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Password input controls -</a:t>
            </a:r>
            <a:r>
              <a:rPr lang="en-US" sz="1800">
                <a:solidFill>
                  <a:schemeClr val="dk1"/>
                </a:solidFill>
                <a:latin typeface="Calibri"/>
                <a:ea typeface="Calibri"/>
                <a:cs typeface="Calibri"/>
                <a:sym typeface="Calibri"/>
              </a:rPr>
              <a:t> This is also a single-line text input but it masks the character as soon as a user enters it. They are also created using HTML &lt;input&gt; tag.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Multi-line text input controls -</a:t>
            </a:r>
            <a:r>
              <a:rPr lang="en-US" sz="1800">
                <a:solidFill>
                  <a:schemeClr val="dk1"/>
                </a:solidFill>
                <a:latin typeface="Calibri"/>
                <a:ea typeface="Calibri"/>
                <a:cs typeface="Calibri"/>
                <a:sym typeface="Calibri"/>
              </a:rPr>
              <a:t> This is used when the user is required to give details that may be longer than a single sentence. Multi-line input controls are created using HTML </a:t>
            </a:r>
            <a:r>
              <a:rPr b="1" lang="en-US" sz="1800">
                <a:solidFill>
                  <a:schemeClr val="dk1"/>
                </a:solidFill>
                <a:latin typeface="Calibri"/>
                <a:ea typeface="Calibri"/>
                <a:cs typeface="Calibri"/>
                <a:sym typeface="Calibri"/>
              </a:rPr>
              <a:t>&lt;textarea&gt;</a:t>
            </a:r>
            <a:r>
              <a:rPr lang="en-US" sz="1800">
                <a:solidFill>
                  <a:schemeClr val="dk1"/>
                </a:solidFill>
                <a:latin typeface="Calibri"/>
                <a:ea typeface="Calibri"/>
                <a:cs typeface="Calibri"/>
                <a:sym typeface="Calibri"/>
              </a:rPr>
              <a:t> tag.</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nvSpPr>
        <p:spPr>
          <a:xfrm>
            <a:off x="381000" y="762000"/>
            <a:ext cx="8305800"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Single-line text input controls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This control is used for items that require only one line of user input, such as search boxes or names. They are created using HTML &lt;input&gt; tag.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&lt;title&gt;Text Input Control&lt;/title&gt;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 &gt;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First name: &lt;input type="text" name="first_name" /&gt; &lt;br&gt;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Last name: &lt;input type="text" name="last_name" /&gt;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&lt;/html&gt;</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nvSpPr>
        <p:spPr>
          <a:xfrm>
            <a:off x="381000" y="762000"/>
            <a:ext cx="7772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Attributes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Following is the list of attributes for &lt;input&gt; tag for creating text field.</a:t>
            </a:r>
            <a:endParaRPr sz="1800">
              <a:solidFill>
                <a:schemeClr val="dk1"/>
              </a:solidFill>
              <a:latin typeface="Calibri"/>
              <a:ea typeface="Calibri"/>
              <a:cs typeface="Calibri"/>
              <a:sym typeface="Calibri"/>
            </a:endParaRPr>
          </a:p>
        </p:txBody>
      </p:sp>
      <p:sp>
        <p:nvSpPr>
          <p:cNvPr id="111" name="Google Shape;111;p17"/>
          <p:cNvSpPr txBox="1"/>
          <p:nvPr/>
        </p:nvSpPr>
        <p:spPr>
          <a:xfrm>
            <a:off x="228600" y="1371600"/>
            <a:ext cx="891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graphicFrame>
        <p:nvGraphicFramePr>
          <p:cNvPr id="112" name="Google Shape;112;p17"/>
          <p:cNvGraphicFramePr/>
          <p:nvPr/>
        </p:nvGraphicFramePr>
        <p:xfrm>
          <a:off x="304800" y="1600199"/>
          <a:ext cx="3000000" cy="3000000"/>
        </p:xfrm>
        <a:graphic>
          <a:graphicData uri="http://schemas.openxmlformats.org/drawingml/2006/table">
            <a:tbl>
              <a:tblPr bandRow="1" firstRow="1">
                <a:noFill/>
                <a:tableStyleId>{25937720-9134-43CC-8340-04EDB98F8AE3}</a:tableStyleId>
              </a:tblPr>
              <a:tblGrid>
                <a:gridCol w="2209800"/>
                <a:gridCol w="6400800"/>
              </a:tblGrid>
              <a:tr h="355900">
                <a:tc>
                  <a:txBody>
                    <a:bodyPr/>
                    <a:lstStyle/>
                    <a:p>
                      <a:pPr indent="0" lvl="0" marL="0" marR="0" rtl="0" algn="l">
                        <a:spcBef>
                          <a:spcPts val="0"/>
                        </a:spcBef>
                        <a:spcAft>
                          <a:spcPts val="0"/>
                        </a:spcAft>
                        <a:buNone/>
                      </a:pPr>
                      <a:r>
                        <a:rPr lang="en-US" sz="1800" u="none" cap="none" strike="noStrike"/>
                        <a:t>Attribute </a:t>
                      </a:r>
                      <a:endParaRPr sz="1800"/>
                    </a:p>
                  </a:txBody>
                  <a:tcPr marT="45725" marB="45725" marR="91450" marL="91450"/>
                </a:tc>
                <a:tc>
                  <a:txBody>
                    <a:bodyPr/>
                    <a:lstStyle/>
                    <a:p>
                      <a:pPr indent="0" lvl="0" marL="0" marR="0" rtl="0" algn="l">
                        <a:spcBef>
                          <a:spcPts val="0"/>
                        </a:spcBef>
                        <a:spcAft>
                          <a:spcPts val="0"/>
                        </a:spcAft>
                        <a:buNone/>
                      </a:pPr>
                      <a:r>
                        <a:rPr lang="en-US" sz="1800"/>
                        <a:t>Description</a:t>
                      </a:r>
                      <a:endParaRPr sz="1800"/>
                    </a:p>
                  </a:txBody>
                  <a:tcPr marT="45725" marB="45725" marR="91450" marL="91450"/>
                </a:tc>
              </a:tr>
              <a:tr h="1021250">
                <a:tc>
                  <a:txBody>
                    <a:bodyPr/>
                    <a:lstStyle/>
                    <a:p>
                      <a:pPr indent="0" lvl="0" marL="0" marR="0" rtl="0" algn="l">
                        <a:spcBef>
                          <a:spcPts val="0"/>
                        </a:spcBef>
                        <a:spcAft>
                          <a:spcPts val="0"/>
                        </a:spcAft>
                        <a:buNone/>
                      </a:pPr>
                      <a:r>
                        <a:rPr lang="en-US" sz="1800"/>
                        <a:t>Type </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Indicates the type of input control and for text input control it </a:t>
                      </a:r>
                      <a:r>
                        <a:rPr lang="en-US" sz="1800"/>
                        <a:t> </a:t>
                      </a:r>
                      <a:r>
                        <a:rPr lang="en-US" sz="1800"/>
                        <a:t>will be set to </a:t>
                      </a:r>
                      <a:r>
                        <a:rPr b="1" lang="en-US" sz="1800"/>
                        <a:t>text</a:t>
                      </a:r>
                      <a:r>
                        <a:rPr lang="en-US" sz="1800"/>
                        <a:t>.</a:t>
                      </a:r>
                      <a:endParaRPr/>
                    </a:p>
                    <a:p>
                      <a:pPr indent="0" lvl="0" marL="0" marR="0" rtl="0" algn="l">
                        <a:spcBef>
                          <a:spcPts val="0"/>
                        </a:spcBef>
                        <a:spcAft>
                          <a:spcPts val="0"/>
                        </a:spcAft>
                        <a:buNone/>
                      </a:pPr>
                      <a:r>
                        <a:t/>
                      </a:r>
                      <a:endParaRPr sz="1800"/>
                    </a:p>
                  </a:txBody>
                  <a:tcPr marT="45725" marB="45725" marR="91450" marL="91450"/>
                </a:tc>
              </a:tr>
              <a:tr h="1149950">
                <a:tc>
                  <a:txBody>
                    <a:bodyPr/>
                    <a:lstStyle/>
                    <a:p>
                      <a:pPr indent="0" lvl="0" marL="0" marR="0" rtl="0" algn="l">
                        <a:spcBef>
                          <a:spcPts val="0"/>
                        </a:spcBef>
                        <a:spcAft>
                          <a:spcPts val="0"/>
                        </a:spcAft>
                        <a:buNone/>
                      </a:pPr>
                      <a:r>
                        <a:rPr lang="en-US" sz="1800"/>
                        <a:t>Name </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Used to give a name to the control which is sent to the server to be recognized and get the value.</a:t>
                      </a:r>
                      <a:endParaRPr/>
                    </a:p>
                    <a:p>
                      <a:pPr indent="0" lvl="0" marL="0" marR="0" rtl="0" algn="l">
                        <a:spcBef>
                          <a:spcPts val="0"/>
                        </a:spcBef>
                        <a:spcAft>
                          <a:spcPts val="0"/>
                        </a:spcAft>
                        <a:buNone/>
                      </a:pPr>
                      <a:r>
                        <a:t/>
                      </a:r>
                      <a:endParaRPr sz="1800"/>
                    </a:p>
                  </a:txBody>
                  <a:tcPr marT="45725" marB="45725" marR="91450" marL="91450"/>
                </a:tc>
              </a:tr>
              <a:tr h="549900">
                <a:tc>
                  <a:txBody>
                    <a:bodyPr/>
                    <a:lstStyle/>
                    <a:p>
                      <a:pPr indent="0" lvl="0" marL="0" marR="0" rtl="0" algn="l">
                        <a:spcBef>
                          <a:spcPts val="0"/>
                        </a:spcBef>
                        <a:spcAft>
                          <a:spcPts val="0"/>
                        </a:spcAft>
                        <a:buNone/>
                      </a:pPr>
                      <a:r>
                        <a:rPr lang="en-US" sz="1800"/>
                        <a:t>Value </a:t>
                      </a:r>
                      <a:endParaRPr sz="1800"/>
                    </a:p>
                  </a:txBody>
                  <a:tcPr marT="45725" marB="45725" marR="91450" marL="91450"/>
                </a:tc>
                <a:tc>
                  <a:txBody>
                    <a:bodyPr/>
                    <a:lstStyle/>
                    <a:p>
                      <a:pPr indent="0" lvl="0" marL="0" marR="0" rtl="0" algn="l">
                        <a:spcBef>
                          <a:spcPts val="0"/>
                        </a:spcBef>
                        <a:spcAft>
                          <a:spcPts val="0"/>
                        </a:spcAft>
                        <a:buNone/>
                      </a:pPr>
                      <a:r>
                        <a:rPr lang="en-US" sz="1800"/>
                        <a:t>This can be used to provide an initial value inside the control.</a:t>
                      </a:r>
                      <a:endParaRPr sz="1800"/>
                    </a:p>
                  </a:txBody>
                  <a:tcPr marT="45725" marB="45725" marR="91450" marL="91450"/>
                </a:tc>
              </a:tr>
              <a:tr h="785575">
                <a:tc>
                  <a:txBody>
                    <a:bodyPr/>
                    <a:lstStyle/>
                    <a:p>
                      <a:pPr indent="0" lvl="0" marL="0" marR="0" rtl="0" algn="l">
                        <a:spcBef>
                          <a:spcPts val="0"/>
                        </a:spcBef>
                        <a:spcAft>
                          <a:spcPts val="0"/>
                        </a:spcAft>
                        <a:buNone/>
                      </a:pPr>
                      <a:r>
                        <a:rPr lang="en-US" sz="1800"/>
                        <a:t>Size </a:t>
                      </a:r>
                      <a:endParaRPr sz="1800"/>
                    </a:p>
                  </a:txBody>
                  <a:tcPr marT="45725" marB="45725" marR="91450" marL="91450"/>
                </a:tc>
                <a:tc>
                  <a:txBody>
                    <a:bodyPr/>
                    <a:lstStyle/>
                    <a:p>
                      <a:pPr indent="0" lvl="0" marL="0" marR="0" rtl="0" algn="l">
                        <a:spcBef>
                          <a:spcPts val="0"/>
                        </a:spcBef>
                        <a:spcAft>
                          <a:spcPts val="0"/>
                        </a:spcAft>
                        <a:buNone/>
                      </a:pPr>
                      <a:r>
                        <a:rPr lang="en-US" sz="1800"/>
                        <a:t>Allows to specify the width of the text-input control in terms of characters.</a:t>
                      </a:r>
                      <a:endParaRPr sz="1800"/>
                    </a:p>
                  </a:txBody>
                  <a:tcPr marT="45725" marB="45725" marR="91450" marL="91450"/>
                </a:tc>
              </a:tr>
              <a:tr h="785575">
                <a:tc>
                  <a:txBody>
                    <a:bodyPr/>
                    <a:lstStyle/>
                    <a:p>
                      <a:pPr indent="0" lvl="0" marL="0" marR="0" rtl="0" algn="l">
                        <a:spcBef>
                          <a:spcPts val="0"/>
                        </a:spcBef>
                        <a:spcAft>
                          <a:spcPts val="0"/>
                        </a:spcAft>
                        <a:buNone/>
                      </a:pPr>
                      <a:r>
                        <a:rPr lang="en-US" sz="1800"/>
                        <a:t>Maxlength </a:t>
                      </a:r>
                      <a:endParaRPr sz="1800"/>
                    </a:p>
                  </a:txBody>
                  <a:tcPr marT="45725" marB="45725" marR="91450" marL="91450"/>
                </a:tc>
                <a:tc>
                  <a:txBody>
                    <a:bodyPr/>
                    <a:lstStyle/>
                    <a:p>
                      <a:pPr indent="0" lvl="0" marL="0" marR="0" rtl="0" algn="l">
                        <a:spcBef>
                          <a:spcPts val="0"/>
                        </a:spcBef>
                        <a:spcAft>
                          <a:spcPts val="0"/>
                        </a:spcAft>
                        <a:buNone/>
                      </a:pPr>
                      <a:r>
                        <a:rPr lang="en-US" sz="1800"/>
                        <a:t>Allows to specify the maximum number of characters a user can enter into the text box.</a:t>
                      </a:r>
                      <a:endParaRPr sz="1800"/>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nvSpPr>
        <p:spPr>
          <a:xfrm>
            <a:off x="457200" y="762000"/>
            <a:ext cx="8001000" cy="56938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Password Input Controls</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This is also a single-line text input but it masks the character as soon as a user enters it. They are also created using HTML &lt;input&gt; tag but type attribute is set to </a:t>
            </a:r>
            <a:r>
              <a:rPr b="1" lang="en-US" sz="1800">
                <a:solidFill>
                  <a:schemeClr val="dk1"/>
                </a:solidFill>
                <a:latin typeface="Calibri"/>
                <a:ea typeface="Calibri"/>
                <a:cs typeface="Calibri"/>
                <a:sym typeface="Calibri"/>
              </a:rPr>
              <a:t>password</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&lt;title&gt;Password Input Control&lt;/title&gt;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 &gt;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User ID : &lt;input type="text" name="user_id" /&gt; &lt;br&gt;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Password: &lt;input type="password" name="password" /&gt;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&lt;/html&gt;</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nvSpPr>
        <p:spPr>
          <a:xfrm>
            <a:off x="304800" y="762000"/>
            <a:ext cx="8610600" cy="704808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Multiple-Line Text Input Controls</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This is used when the user is required to give details that may be longer than a single sentence. Multi-line input controls are created using HTML &lt;textarea&gt; tag.</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600">
                <a:solidFill>
                  <a:schemeClr val="dk1"/>
                </a:solidFill>
                <a:latin typeface="Calibri"/>
                <a:ea typeface="Calibri"/>
                <a:cs typeface="Calibri"/>
                <a:sym typeface="Calibri"/>
              </a:rPr>
              <a:t>Example</a:t>
            </a:r>
            <a:endParaRPr b="1"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&lt;html&gt;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&lt;head&gt;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&lt;title&gt;Multiple-Line Input Control&lt;/title&gt;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&lt;/head&gt;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&lt;body&gt;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&lt;form&gt;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Description : &lt;br /&gt;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&lt;textarea rows="5" cols="50" name="description"&gt;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Enter description here... &lt;/textarea&gt;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&lt;/form&gt;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&lt;/html&gt;</a:t>
            </a:r>
            <a:endParaRPr/>
          </a:p>
          <a:p>
            <a:pPr indent="0" lvl="0" marL="0" marR="0" rtl="0" algn="l">
              <a:spcBef>
                <a:spcPts val="0"/>
              </a:spcBef>
              <a:spcAft>
                <a:spcPts val="0"/>
              </a:spcAft>
              <a:buNone/>
            </a:pPr>
            <a:br>
              <a:rPr lang="en-US" sz="1600">
                <a:solidFill>
                  <a:schemeClr val="dk1"/>
                </a:solidFill>
                <a:latin typeface="Calibri"/>
                <a:ea typeface="Calibri"/>
                <a:cs typeface="Calibri"/>
                <a:sym typeface="Calibri"/>
              </a:rPr>
            </a:br>
            <a:endParaRPr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nvSpPr>
        <p:spPr>
          <a:xfrm>
            <a:off x="457200" y="685800"/>
            <a:ext cx="8305800" cy="12890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Attributes</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Following is the list of attributes for &lt;textarea&gt; tag.</a:t>
            </a:r>
            <a:endParaRPr/>
          </a:p>
          <a:p>
            <a:pPr indent="0" lvl="0" marL="0" marR="0" rtl="0" algn="l">
              <a:lnSpc>
                <a:spcPct val="150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aphicFrame>
        <p:nvGraphicFramePr>
          <p:cNvPr id="128" name="Google Shape;128;p20"/>
          <p:cNvGraphicFramePr/>
          <p:nvPr/>
        </p:nvGraphicFramePr>
        <p:xfrm>
          <a:off x="304799" y="2057400"/>
          <a:ext cx="3000000" cy="3000000"/>
        </p:xfrm>
        <a:graphic>
          <a:graphicData uri="http://schemas.openxmlformats.org/drawingml/2006/table">
            <a:tbl>
              <a:tblPr bandRow="1" firstRow="1">
                <a:noFill/>
                <a:tableStyleId>{25937720-9134-43CC-8340-04EDB98F8AE3}</a:tableStyleId>
              </a:tblPr>
              <a:tblGrid>
                <a:gridCol w="2220275"/>
                <a:gridCol w="6237925"/>
              </a:tblGrid>
              <a:tr h="803575">
                <a:tc>
                  <a:txBody>
                    <a:bodyPr/>
                    <a:lstStyle/>
                    <a:p>
                      <a:pPr indent="0" lvl="0" marL="0" marR="0" rtl="0" algn="ctr">
                        <a:spcBef>
                          <a:spcPts val="0"/>
                        </a:spcBef>
                        <a:spcAft>
                          <a:spcPts val="0"/>
                        </a:spcAft>
                        <a:buNone/>
                      </a:pPr>
                      <a:r>
                        <a:rPr b="1" i="0" lang="en-US" sz="1800">
                          <a:solidFill>
                            <a:schemeClr val="lt1"/>
                          </a:solidFill>
                          <a:latin typeface="Calibri"/>
                          <a:ea typeface="Calibri"/>
                          <a:cs typeface="Calibri"/>
                          <a:sym typeface="Calibri"/>
                        </a:rPr>
                        <a:t>Attribute</a:t>
                      </a:r>
                      <a:endParaRPr sz="1800"/>
                    </a:p>
                  </a:txBody>
                  <a:tcPr marT="45725" marB="45725" marR="91450" marL="91450"/>
                </a:tc>
                <a:tc>
                  <a:txBody>
                    <a:bodyPr/>
                    <a:lstStyle/>
                    <a:p>
                      <a:pPr indent="0" lvl="0" marL="0" marR="0" rtl="0" algn="l">
                        <a:spcBef>
                          <a:spcPts val="0"/>
                        </a:spcBef>
                        <a:spcAft>
                          <a:spcPts val="0"/>
                        </a:spcAft>
                        <a:buNone/>
                      </a:pPr>
                      <a:r>
                        <a:rPr b="1" i="0" lang="en-US" sz="1800">
                          <a:solidFill>
                            <a:schemeClr val="lt1"/>
                          </a:solidFill>
                          <a:latin typeface="Calibri"/>
                          <a:ea typeface="Calibri"/>
                          <a:cs typeface="Calibri"/>
                          <a:sym typeface="Calibri"/>
                        </a:rPr>
                        <a:t>Description</a:t>
                      </a:r>
                      <a:endParaRPr sz="1800"/>
                    </a:p>
                  </a:txBody>
                  <a:tcPr marT="45725" marB="45725" marR="91450" marL="91450"/>
                </a:tc>
              </a:tr>
              <a:tr h="1458975">
                <a:tc>
                  <a:txBody>
                    <a:bodyPr/>
                    <a:lstStyle/>
                    <a:p>
                      <a:pPr indent="0" lvl="0" marL="0" marR="0" rtl="0" algn="ctr">
                        <a:spcBef>
                          <a:spcPts val="0"/>
                        </a:spcBef>
                        <a:spcAft>
                          <a:spcPts val="0"/>
                        </a:spcAft>
                        <a:buNone/>
                      </a:pPr>
                      <a:r>
                        <a:rPr b="0" i="0" lang="en-US" sz="1800">
                          <a:solidFill>
                            <a:schemeClr val="dk1"/>
                          </a:solidFill>
                          <a:latin typeface="Calibri"/>
                          <a:ea typeface="Calibri"/>
                          <a:cs typeface="Calibri"/>
                          <a:sym typeface="Calibri"/>
                        </a:rPr>
                        <a:t>name</a:t>
                      </a:r>
                      <a:endParaRPr sz="1800"/>
                    </a:p>
                  </a:txBody>
                  <a:tcPr marT="45725" marB="45725" marR="91450" marL="91450"/>
                </a:tc>
                <a:tc>
                  <a:txBody>
                    <a:bodyPr/>
                    <a:lstStyle/>
                    <a:p>
                      <a:pPr indent="0" lvl="0" marL="0" marR="0" rtl="0" algn="l">
                        <a:spcBef>
                          <a:spcPts val="0"/>
                        </a:spcBef>
                        <a:spcAft>
                          <a:spcPts val="0"/>
                        </a:spcAft>
                        <a:buNone/>
                      </a:pPr>
                      <a:r>
                        <a:rPr lang="en-US" sz="1800"/>
                        <a:t>Used to give a name to the control which is sent to the server to be recognized and get the value.</a:t>
                      </a:r>
                      <a:endParaRPr/>
                    </a:p>
                  </a:txBody>
                  <a:tcPr marT="76200" marB="76200" marR="76200" marL="76200"/>
                </a:tc>
              </a:tr>
              <a:tr h="803575">
                <a:tc>
                  <a:txBody>
                    <a:bodyPr/>
                    <a:lstStyle/>
                    <a:p>
                      <a:pPr indent="0" lvl="0" marL="0" marR="0" rtl="0" algn="ctr">
                        <a:spcBef>
                          <a:spcPts val="0"/>
                        </a:spcBef>
                        <a:spcAft>
                          <a:spcPts val="0"/>
                        </a:spcAft>
                        <a:buNone/>
                      </a:pPr>
                      <a:r>
                        <a:rPr b="0" i="0" lang="en-US" sz="1800">
                          <a:solidFill>
                            <a:schemeClr val="dk1"/>
                          </a:solidFill>
                          <a:latin typeface="Calibri"/>
                          <a:ea typeface="Calibri"/>
                          <a:cs typeface="Calibri"/>
                          <a:sym typeface="Calibri"/>
                        </a:rPr>
                        <a:t>rows</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Indicates the number of rows of text area box.</a:t>
                      </a:r>
                      <a:endParaRPr sz="1800"/>
                    </a:p>
                  </a:txBody>
                  <a:tcPr marT="45725" marB="45725" marR="91450" marL="91450"/>
                </a:tc>
              </a:tr>
              <a:tr h="1201050">
                <a:tc>
                  <a:txBody>
                    <a:bodyPr/>
                    <a:lstStyle/>
                    <a:p>
                      <a:pPr indent="0" lvl="0" marL="0" marR="0" rtl="0" algn="ctr">
                        <a:spcBef>
                          <a:spcPts val="0"/>
                        </a:spcBef>
                        <a:spcAft>
                          <a:spcPts val="0"/>
                        </a:spcAft>
                        <a:buNone/>
                      </a:pPr>
                      <a:r>
                        <a:rPr b="0" i="0" lang="en-US" sz="1800">
                          <a:solidFill>
                            <a:schemeClr val="dk1"/>
                          </a:solidFill>
                          <a:latin typeface="Calibri"/>
                          <a:ea typeface="Calibri"/>
                          <a:cs typeface="Calibri"/>
                          <a:sym typeface="Calibri"/>
                        </a:rPr>
                        <a:t>cols</a:t>
                      </a:r>
                      <a:endParaRPr sz="1800"/>
                    </a:p>
                  </a:txBody>
                  <a:tcPr marT="45725" marB="45725" marR="91450" marL="91450"/>
                </a:tc>
                <a:tc>
                  <a:txBody>
                    <a:bodyPr/>
                    <a:lstStyle/>
                    <a:p>
                      <a:pPr indent="0" lvl="0" marL="0" marR="0" rtl="0" algn="l">
                        <a:spcBef>
                          <a:spcPts val="0"/>
                        </a:spcBef>
                        <a:spcAft>
                          <a:spcPts val="0"/>
                        </a:spcAft>
                        <a:buNone/>
                      </a:pPr>
                      <a:r>
                        <a:rPr lang="en-US" sz="1800"/>
                        <a:t>Indicates the number of columns of text area box</a:t>
                      </a:r>
                      <a:endParaRPr/>
                    </a:p>
                  </a:txBody>
                  <a:tcPr marT="76200" marB="76200" marR="76200" marL="7620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nvSpPr>
        <p:spPr>
          <a:xfrm>
            <a:off x="304800" y="609600"/>
            <a:ext cx="8382000" cy="541686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a:t>
            </a:r>
            <a:r>
              <a:rPr b="1" lang="en-US" sz="2000">
                <a:solidFill>
                  <a:schemeClr val="dk1"/>
                </a:solidFill>
                <a:latin typeface="Calibri"/>
                <a:ea typeface="Calibri"/>
                <a:cs typeface="Calibri"/>
                <a:sym typeface="Calibri"/>
              </a:rPr>
              <a:t>Checkbox Control</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Checkboxes are used when more than one option is required to be selected. They are also created using HTML &lt;input&gt; tag but type attribute is set to </a:t>
            </a:r>
            <a:r>
              <a:rPr b="1" lang="en-US" sz="1800">
                <a:solidFill>
                  <a:schemeClr val="dk1"/>
                </a:solidFill>
                <a:latin typeface="Calibri"/>
                <a:ea typeface="Calibri"/>
                <a:cs typeface="Calibri"/>
                <a:sym typeface="Calibri"/>
              </a:rPr>
              <a:t>checkbox</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&lt;title&gt;Checkbox Control&lt;/title&gt;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&lt;body&gt;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&lt;form&gt;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&lt;input type="checkbox" name=“cprog" value="on"&gt; C Programming</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&lt;input type="checkbox" name=“htm" value="on"&gt; HTML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&lt;/form&gt;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&lt;/body&gt;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nvSpPr>
        <p:spPr>
          <a:xfrm>
            <a:off x="381000" y="762000"/>
            <a:ext cx="8229600" cy="24622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Attributes</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Following is the list of attributes for &lt;checkbox&gt; tag.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 </a:t>
            </a:r>
            <a:endParaRPr sz="1400">
              <a:solidFill>
                <a:schemeClr val="dk1"/>
              </a:solidFill>
              <a:latin typeface="Calibri"/>
              <a:ea typeface="Calibri"/>
              <a:cs typeface="Calibri"/>
              <a:sym typeface="Calibri"/>
            </a:endParaRPr>
          </a:p>
        </p:txBody>
      </p:sp>
      <p:graphicFrame>
        <p:nvGraphicFramePr>
          <p:cNvPr id="139" name="Google Shape;139;p22"/>
          <p:cNvGraphicFramePr/>
          <p:nvPr/>
        </p:nvGraphicFramePr>
        <p:xfrm>
          <a:off x="304800" y="2057399"/>
          <a:ext cx="3000000" cy="3000000"/>
        </p:xfrm>
        <a:graphic>
          <a:graphicData uri="http://schemas.openxmlformats.org/drawingml/2006/table">
            <a:tbl>
              <a:tblPr bandRow="1" firstRow="1">
                <a:noFill/>
                <a:tableStyleId>{25937720-9134-43CC-8340-04EDB98F8AE3}</a:tableStyleId>
              </a:tblPr>
              <a:tblGrid>
                <a:gridCol w="2209800"/>
                <a:gridCol w="6400800"/>
              </a:tblGrid>
              <a:tr h="329850">
                <a:tc>
                  <a:txBody>
                    <a:bodyPr/>
                    <a:lstStyle/>
                    <a:p>
                      <a:pPr indent="0" lvl="0" marL="0" marR="0" rtl="0" algn="l">
                        <a:spcBef>
                          <a:spcPts val="0"/>
                        </a:spcBef>
                        <a:spcAft>
                          <a:spcPts val="0"/>
                        </a:spcAft>
                        <a:buNone/>
                      </a:pPr>
                      <a:r>
                        <a:rPr lang="en-US" sz="1800"/>
                        <a:t>Attribute </a:t>
                      </a:r>
                      <a:endParaRPr sz="1800"/>
                    </a:p>
                  </a:txBody>
                  <a:tcPr marT="45725" marB="45725" marR="91450" marL="91450"/>
                </a:tc>
                <a:tc>
                  <a:txBody>
                    <a:bodyPr/>
                    <a:lstStyle/>
                    <a:p>
                      <a:pPr indent="0" lvl="0" marL="0" marR="0" rtl="0" algn="l">
                        <a:spcBef>
                          <a:spcPts val="0"/>
                        </a:spcBef>
                        <a:spcAft>
                          <a:spcPts val="0"/>
                        </a:spcAft>
                        <a:buNone/>
                      </a:pPr>
                      <a:r>
                        <a:rPr lang="en-US" sz="1800"/>
                        <a:t>Description</a:t>
                      </a:r>
                      <a:endParaRPr sz="1800"/>
                    </a:p>
                  </a:txBody>
                  <a:tcPr marT="45725" marB="45725" marR="91450" marL="91450"/>
                </a:tc>
              </a:tr>
              <a:tr h="921025">
                <a:tc>
                  <a:txBody>
                    <a:bodyPr/>
                    <a:lstStyle/>
                    <a:p>
                      <a:pPr indent="0" lvl="0" marL="0" marR="0" rtl="0" algn="l">
                        <a:spcBef>
                          <a:spcPts val="0"/>
                        </a:spcBef>
                        <a:spcAft>
                          <a:spcPts val="0"/>
                        </a:spcAft>
                        <a:buNone/>
                      </a:pPr>
                      <a:r>
                        <a:rPr lang="en-US" sz="1800"/>
                        <a:t>Type </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a:solidFill>
                            <a:schemeClr val="dk1"/>
                          </a:solidFill>
                          <a:latin typeface="Calibri"/>
                          <a:ea typeface="Calibri"/>
                          <a:cs typeface="Calibri"/>
                          <a:sym typeface="Calibri"/>
                        </a:rPr>
                        <a:t>Indicates the type of input control and for checkbox input control it will be set to </a:t>
                      </a:r>
                      <a:r>
                        <a:rPr b="1" i="0" lang="en-US" sz="1800">
                          <a:solidFill>
                            <a:schemeClr val="dk1"/>
                          </a:solidFill>
                          <a:latin typeface="Calibri"/>
                          <a:ea typeface="Calibri"/>
                          <a:cs typeface="Calibri"/>
                          <a:sym typeface="Calibri"/>
                        </a:rPr>
                        <a:t>checkbox</a:t>
                      </a:r>
                      <a:r>
                        <a:rPr b="0" i="0" lang="en-US" sz="1800">
                          <a:solidFill>
                            <a:schemeClr val="dk1"/>
                          </a:solidFill>
                          <a:latin typeface="Calibri"/>
                          <a:ea typeface="Calibri"/>
                          <a:cs typeface="Calibri"/>
                          <a:sym typeface="Calibri"/>
                        </a:rPr>
                        <a:t>.</a:t>
                      </a:r>
                      <a:endParaRPr sz="1800"/>
                    </a:p>
                    <a:p>
                      <a:pPr indent="0" lvl="0" marL="0" marR="0" rtl="0" algn="l">
                        <a:spcBef>
                          <a:spcPts val="0"/>
                        </a:spcBef>
                        <a:spcAft>
                          <a:spcPts val="0"/>
                        </a:spcAft>
                        <a:buNone/>
                      </a:pPr>
                      <a:r>
                        <a:t/>
                      </a:r>
                      <a:endParaRPr sz="1800"/>
                    </a:p>
                  </a:txBody>
                  <a:tcPr marT="45725" marB="45725" marR="91450" marL="91450"/>
                </a:tc>
              </a:tr>
              <a:tr h="1037075">
                <a:tc>
                  <a:txBody>
                    <a:bodyPr/>
                    <a:lstStyle/>
                    <a:p>
                      <a:pPr indent="0" lvl="0" marL="0" marR="0" rtl="0" algn="l">
                        <a:spcBef>
                          <a:spcPts val="0"/>
                        </a:spcBef>
                        <a:spcAft>
                          <a:spcPts val="0"/>
                        </a:spcAft>
                        <a:buNone/>
                      </a:pPr>
                      <a:r>
                        <a:rPr lang="en-US" sz="1800"/>
                        <a:t>Name </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b="0" i="0" lang="en-US" sz="1800">
                          <a:solidFill>
                            <a:schemeClr val="dk1"/>
                          </a:solidFill>
                          <a:latin typeface="Calibri"/>
                          <a:ea typeface="Calibri"/>
                          <a:cs typeface="Calibri"/>
                          <a:sym typeface="Calibri"/>
                        </a:rPr>
                        <a:t>Used to give a name to the control which is sent to the server to be recognized and get the value.</a:t>
                      </a:r>
                      <a:endParaRPr sz="1800"/>
                    </a:p>
                    <a:p>
                      <a:pPr indent="0" lvl="0" marL="0" marR="0" rtl="0" algn="l">
                        <a:spcBef>
                          <a:spcPts val="0"/>
                        </a:spcBef>
                        <a:spcAft>
                          <a:spcPts val="0"/>
                        </a:spcAft>
                        <a:buNone/>
                      </a:pPr>
                      <a:r>
                        <a:t/>
                      </a:r>
                      <a:endParaRPr sz="1800"/>
                    </a:p>
                  </a:txBody>
                  <a:tcPr marT="45725" marB="45725" marR="91450" marL="91450"/>
                </a:tc>
              </a:tr>
              <a:tr h="495925">
                <a:tc>
                  <a:txBody>
                    <a:bodyPr/>
                    <a:lstStyle/>
                    <a:p>
                      <a:pPr indent="0" lvl="0" marL="0" marR="0" rtl="0" algn="l">
                        <a:spcBef>
                          <a:spcPts val="0"/>
                        </a:spcBef>
                        <a:spcAft>
                          <a:spcPts val="0"/>
                        </a:spcAft>
                        <a:buNone/>
                      </a:pPr>
                      <a:r>
                        <a:rPr lang="en-US" sz="1800"/>
                        <a:t>Value </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The value that will be used if the checkbox is selected.</a:t>
                      </a:r>
                      <a:endParaRPr sz="1800"/>
                    </a:p>
                  </a:txBody>
                  <a:tcPr marT="45725" marB="45725" marR="91450" marL="91450"/>
                </a:tc>
              </a:tr>
              <a:tr h="708475">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checked</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Set to </a:t>
                      </a:r>
                      <a:r>
                        <a:rPr b="0" i="1" lang="en-US" sz="1800">
                          <a:solidFill>
                            <a:schemeClr val="dk1"/>
                          </a:solidFill>
                          <a:latin typeface="Calibri"/>
                          <a:ea typeface="Calibri"/>
                          <a:cs typeface="Calibri"/>
                          <a:sym typeface="Calibri"/>
                        </a:rPr>
                        <a:t>checked</a:t>
                      </a:r>
                      <a:r>
                        <a:rPr b="0" i="0" lang="en-US" sz="1800">
                          <a:solidFill>
                            <a:schemeClr val="dk1"/>
                          </a:solidFill>
                          <a:latin typeface="Calibri"/>
                          <a:ea typeface="Calibri"/>
                          <a:cs typeface="Calibri"/>
                          <a:sym typeface="Calibri"/>
                        </a:rPr>
                        <a:t> if you want to select it by default.</a:t>
                      </a:r>
                      <a:endParaRPr sz="1800"/>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nvSpPr>
        <p:spPr>
          <a:xfrm>
            <a:off x="304800" y="990600"/>
            <a:ext cx="8610600"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Radio Button Control :</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Radio buttons are used when out of many options, just one option is required to be selected. They are also created using HTML &lt;input&gt; tag but type attribute is set to </a:t>
            </a:r>
            <a:r>
              <a:rPr b="1" lang="en-US" sz="1800">
                <a:solidFill>
                  <a:schemeClr val="dk1"/>
                </a:solidFill>
                <a:latin typeface="Calibri"/>
                <a:ea typeface="Calibri"/>
                <a:cs typeface="Calibri"/>
                <a:sym typeface="Calibri"/>
              </a:rPr>
              <a:t>radio</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&lt;html&gt;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&lt;title&gt;Radio Box Control&lt;/title&gt;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&lt;input type="radio" name=“gender" value="male"&gt; Male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&lt;input type="radio" name=“gender" value=“female"&gt; Female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&lt;/html&gt;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nvSpPr>
        <p:spPr>
          <a:xfrm>
            <a:off x="228601" y="762000"/>
            <a:ext cx="8686799" cy="15081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Attributes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Following is the list of attributes for radio button.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aphicFrame>
        <p:nvGraphicFramePr>
          <p:cNvPr id="150" name="Google Shape;150;p24"/>
          <p:cNvGraphicFramePr/>
          <p:nvPr/>
        </p:nvGraphicFramePr>
        <p:xfrm>
          <a:off x="304800" y="2057399"/>
          <a:ext cx="3000000" cy="3000000"/>
        </p:xfrm>
        <a:graphic>
          <a:graphicData uri="http://schemas.openxmlformats.org/drawingml/2006/table">
            <a:tbl>
              <a:tblPr bandRow="1" firstRow="1">
                <a:noFill/>
                <a:tableStyleId>{25937720-9134-43CC-8340-04EDB98F8AE3}</a:tableStyleId>
              </a:tblPr>
              <a:tblGrid>
                <a:gridCol w="2209800"/>
                <a:gridCol w="6400800"/>
              </a:tblGrid>
              <a:tr h="329850">
                <a:tc>
                  <a:txBody>
                    <a:bodyPr/>
                    <a:lstStyle/>
                    <a:p>
                      <a:pPr indent="0" lvl="0" marL="0" marR="0" rtl="0" algn="l">
                        <a:spcBef>
                          <a:spcPts val="0"/>
                        </a:spcBef>
                        <a:spcAft>
                          <a:spcPts val="0"/>
                        </a:spcAft>
                        <a:buNone/>
                      </a:pPr>
                      <a:r>
                        <a:rPr lang="en-US" sz="1800"/>
                        <a:t>Attribute </a:t>
                      </a:r>
                      <a:endParaRPr sz="1800"/>
                    </a:p>
                  </a:txBody>
                  <a:tcPr marT="45725" marB="45725" marR="91450" marL="91450"/>
                </a:tc>
                <a:tc>
                  <a:txBody>
                    <a:bodyPr/>
                    <a:lstStyle/>
                    <a:p>
                      <a:pPr indent="0" lvl="0" marL="0" marR="0" rtl="0" algn="l">
                        <a:spcBef>
                          <a:spcPts val="0"/>
                        </a:spcBef>
                        <a:spcAft>
                          <a:spcPts val="0"/>
                        </a:spcAft>
                        <a:buNone/>
                      </a:pPr>
                      <a:r>
                        <a:rPr lang="en-US" sz="1800"/>
                        <a:t>Description</a:t>
                      </a:r>
                      <a:endParaRPr sz="1800"/>
                    </a:p>
                  </a:txBody>
                  <a:tcPr marT="45725" marB="45725" marR="91450" marL="91450"/>
                </a:tc>
              </a:tr>
              <a:tr h="921025">
                <a:tc>
                  <a:txBody>
                    <a:bodyPr/>
                    <a:lstStyle/>
                    <a:p>
                      <a:pPr indent="0" lvl="0" marL="0" marR="0" rtl="0" algn="l">
                        <a:spcBef>
                          <a:spcPts val="0"/>
                        </a:spcBef>
                        <a:spcAft>
                          <a:spcPts val="0"/>
                        </a:spcAft>
                        <a:buNone/>
                      </a:pPr>
                      <a:r>
                        <a:rPr lang="en-US" sz="1800"/>
                        <a:t>Type </a:t>
                      </a:r>
                      <a:endParaRPr sz="1800"/>
                    </a:p>
                  </a:txBody>
                  <a:tcPr marT="45725" marB="45725" marR="91450" marL="91450"/>
                </a:tc>
                <a:tc>
                  <a:txBody>
                    <a:bodyPr/>
                    <a:lstStyle/>
                    <a:p>
                      <a:pPr indent="0" lvl="0" marL="0" marR="0" rtl="0" algn="l">
                        <a:spcBef>
                          <a:spcPts val="0"/>
                        </a:spcBef>
                        <a:spcAft>
                          <a:spcPts val="0"/>
                        </a:spcAft>
                        <a:buNone/>
                      </a:pPr>
                      <a:r>
                        <a:rPr lang="en-US" sz="1800"/>
                        <a:t>Indicates the type of input control and for checkbox input control it will be set to </a:t>
                      </a:r>
                      <a:r>
                        <a:rPr b="1" lang="en-US" sz="1800"/>
                        <a:t>radio</a:t>
                      </a:r>
                      <a:r>
                        <a:rPr lang="en-US" sz="1800"/>
                        <a:t>.</a:t>
                      </a:r>
                      <a:endParaRPr/>
                    </a:p>
                  </a:txBody>
                  <a:tcPr marT="76200" marB="76200" marR="76200" marL="76200"/>
                </a:tc>
              </a:tr>
              <a:tr h="1037075">
                <a:tc>
                  <a:txBody>
                    <a:bodyPr/>
                    <a:lstStyle/>
                    <a:p>
                      <a:pPr indent="0" lvl="0" marL="0" marR="0" rtl="0" algn="l">
                        <a:spcBef>
                          <a:spcPts val="0"/>
                        </a:spcBef>
                        <a:spcAft>
                          <a:spcPts val="0"/>
                        </a:spcAft>
                        <a:buNone/>
                      </a:pPr>
                      <a:r>
                        <a:rPr lang="en-US" sz="1800"/>
                        <a:t>Name </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Used to give a name to the control which is sent to the server to be recognized and get the value.</a:t>
                      </a:r>
                      <a:endParaRPr sz="1800"/>
                    </a:p>
                  </a:txBody>
                  <a:tcPr marT="45725" marB="45725" marR="91450" marL="91450"/>
                </a:tc>
              </a:tr>
              <a:tr h="495925">
                <a:tc>
                  <a:txBody>
                    <a:bodyPr/>
                    <a:lstStyle/>
                    <a:p>
                      <a:pPr indent="0" lvl="0" marL="0" marR="0" rtl="0" algn="l">
                        <a:spcBef>
                          <a:spcPts val="0"/>
                        </a:spcBef>
                        <a:spcAft>
                          <a:spcPts val="0"/>
                        </a:spcAft>
                        <a:buNone/>
                      </a:pPr>
                      <a:r>
                        <a:rPr lang="en-US" sz="1800"/>
                        <a:t>Value </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The value that will be used if the radio box is selected.</a:t>
                      </a:r>
                      <a:endParaRPr sz="1800"/>
                    </a:p>
                  </a:txBody>
                  <a:tcPr marT="45725" marB="45725" marR="91450" marL="91450"/>
                </a:tc>
              </a:tr>
              <a:tr h="708475">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checked</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Set to </a:t>
                      </a:r>
                      <a:r>
                        <a:rPr b="0" i="1" lang="en-US" sz="1800">
                          <a:solidFill>
                            <a:schemeClr val="dk1"/>
                          </a:solidFill>
                          <a:latin typeface="Calibri"/>
                          <a:ea typeface="Calibri"/>
                          <a:cs typeface="Calibri"/>
                          <a:sym typeface="Calibri"/>
                        </a:rPr>
                        <a:t>checked</a:t>
                      </a:r>
                      <a:r>
                        <a:rPr b="0" i="0" lang="en-US" sz="1800">
                          <a:solidFill>
                            <a:schemeClr val="dk1"/>
                          </a:solidFill>
                          <a:latin typeface="Calibri"/>
                          <a:ea typeface="Calibri"/>
                          <a:cs typeface="Calibri"/>
                          <a:sym typeface="Calibri"/>
                        </a:rPr>
                        <a:t> if you want to select it by default.</a:t>
                      </a:r>
                      <a:endParaRPr sz="1800"/>
                    </a:p>
                  </a:txBody>
                  <a:tcPr marT="45725" marB="45725" marR="91450" marL="9145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nvSpPr>
        <p:spPr>
          <a:xfrm>
            <a:off x="228600" y="990600"/>
            <a:ext cx="8610600" cy="62478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Select Box Control</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 select box, also called drop down box which provides option to list down various options in the form of drop down list, from where a user can select one or more options.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&lt;html&gt;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&lt;title&gt;Select Box Control&lt;/title&gt;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&lt;select name="dropdown"&gt;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&lt;option value=“Java" selected&gt;Java&lt;/option&gt;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&lt;option value=“html"&gt;HTML&lt;/option&gt;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&lt;/select&gt;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&lt;/html&gt;</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nvSpPr>
        <p:spPr>
          <a:xfrm>
            <a:off x="457200" y="990600"/>
            <a:ext cx="8382000" cy="12618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Attributes</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Following is the list of important attributes of &lt;select&gt; tag:</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61" name="Google Shape;161;p26"/>
          <p:cNvGraphicFramePr/>
          <p:nvPr/>
        </p:nvGraphicFramePr>
        <p:xfrm>
          <a:off x="304799" y="2057400"/>
          <a:ext cx="3000000" cy="3000000"/>
        </p:xfrm>
        <a:graphic>
          <a:graphicData uri="http://schemas.openxmlformats.org/drawingml/2006/table">
            <a:tbl>
              <a:tblPr bandRow="1" firstRow="1">
                <a:noFill/>
                <a:tableStyleId>{25937720-9134-43CC-8340-04EDB98F8AE3}</a:tableStyleId>
              </a:tblPr>
              <a:tblGrid>
                <a:gridCol w="2220275"/>
                <a:gridCol w="6237925"/>
              </a:tblGrid>
              <a:tr h="803575">
                <a:tc>
                  <a:txBody>
                    <a:bodyPr/>
                    <a:lstStyle/>
                    <a:p>
                      <a:pPr indent="0" lvl="0" marL="0" marR="0" rtl="0" algn="ctr">
                        <a:spcBef>
                          <a:spcPts val="0"/>
                        </a:spcBef>
                        <a:spcAft>
                          <a:spcPts val="0"/>
                        </a:spcAft>
                        <a:buNone/>
                      </a:pPr>
                      <a:r>
                        <a:rPr b="1" i="0" lang="en-US" sz="1800">
                          <a:solidFill>
                            <a:schemeClr val="lt1"/>
                          </a:solidFill>
                          <a:latin typeface="Calibri"/>
                          <a:ea typeface="Calibri"/>
                          <a:cs typeface="Calibri"/>
                          <a:sym typeface="Calibri"/>
                        </a:rPr>
                        <a:t>Attribute</a:t>
                      </a:r>
                      <a:endParaRPr sz="1800"/>
                    </a:p>
                  </a:txBody>
                  <a:tcPr marT="45725" marB="45725" marR="91450" marL="91450"/>
                </a:tc>
                <a:tc>
                  <a:txBody>
                    <a:bodyPr/>
                    <a:lstStyle/>
                    <a:p>
                      <a:pPr indent="0" lvl="0" marL="0" marR="0" rtl="0" algn="l">
                        <a:spcBef>
                          <a:spcPts val="0"/>
                        </a:spcBef>
                        <a:spcAft>
                          <a:spcPts val="0"/>
                        </a:spcAft>
                        <a:buNone/>
                      </a:pPr>
                      <a:r>
                        <a:rPr b="1" i="0" lang="en-US" sz="1800">
                          <a:solidFill>
                            <a:schemeClr val="lt1"/>
                          </a:solidFill>
                          <a:latin typeface="Calibri"/>
                          <a:ea typeface="Calibri"/>
                          <a:cs typeface="Calibri"/>
                          <a:sym typeface="Calibri"/>
                        </a:rPr>
                        <a:t>Description</a:t>
                      </a:r>
                      <a:endParaRPr sz="1800"/>
                    </a:p>
                  </a:txBody>
                  <a:tcPr marT="45725" marB="45725" marR="91450" marL="91450"/>
                </a:tc>
              </a:tr>
              <a:tr h="1458975">
                <a:tc>
                  <a:txBody>
                    <a:bodyPr/>
                    <a:lstStyle/>
                    <a:p>
                      <a:pPr indent="0" lvl="0" marL="0" marR="0" rtl="0" algn="ctr">
                        <a:spcBef>
                          <a:spcPts val="0"/>
                        </a:spcBef>
                        <a:spcAft>
                          <a:spcPts val="0"/>
                        </a:spcAft>
                        <a:buNone/>
                      </a:pPr>
                      <a:r>
                        <a:rPr b="0" i="0" lang="en-US" sz="1800">
                          <a:solidFill>
                            <a:schemeClr val="dk1"/>
                          </a:solidFill>
                          <a:latin typeface="Calibri"/>
                          <a:ea typeface="Calibri"/>
                          <a:cs typeface="Calibri"/>
                          <a:sym typeface="Calibri"/>
                        </a:rPr>
                        <a:t>name</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Used to give a name to the control which is sent to the server to be recognized and get the value.</a:t>
                      </a:r>
                      <a:endParaRPr sz="1800"/>
                    </a:p>
                  </a:txBody>
                  <a:tcPr marT="76200" marB="76200" marR="76200" marL="76200"/>
                </a:tc>
              </a:tr>
              <a:tr h="803575">
                <a:tc>
                  <a:txBody>
                    <a:bodyPr/>
                    <a:lstStyle/>
                    <a:p>
                      <a:pPr indent="0" lvl="0" marL="0" marR="0" rtl="0" algn="ctr">
                        <a:spcBef>
                          <a:spcPts val="0"/>
                        </a:spcBef>
                        <a:spcAft>
                          <a:spcPts val="0"/>
                        </a:spcAft>
                        <a:buNone/>
                      </a:pPr>
                      <a:r>
                        <a:rPr b="0" i="0" lang="en-US" sz="1800">
                          <a:solidFill>
                            <a:schemeClr val="dk1"/>
                          </a:solidFill>
                          <a:latin typeface="Calibri"/>
                          <a:ea typeface="Calibri"/>
                          <a:cs typeface="Calibri"/>
                          <a:sym typeface="Calibri"/>
                        </a:rPr>
                        <a:t>size</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This can be used to present a scrolling list box.</a:t>
                      </a:r>
                      <a:endParaRPr sz="1800"/>
                    </a:p>
                  </a:txBody>
                  <a:tcPr marT="45725" marB="45725" marR="91450" marL="91450"/>
                </a:tc>
              </a:tr>
              <a:tr h="1201050">
                <a:tc>
                  <a:txBody>
                    <a:bodyPr/>
                    <a:lstStyle/>
                    <a:p>
                      <a:pPr indent="0" lvl="0" marL="0" marR="0" rtl="0" algn="ctr">
                        <a:spcBef>
                          <a:spcPts val="0"/>
                        </a:spcBef>
                        <a:spcAft>
                          <a:spcPts val="0"/>
                        </a:spcAft>
                        <a:buNone/>
                      </a:pPr>
                      <a:r>
                        <a:rPr b="0" i="0" lang="en-US" sz="1800">
                          <a:solidFill>
                            <a:schemeClr val="dk1"/>
                          </a:solidFill>
                          <a:latin typeface="Calibri"/>
                          <a:ea typeface="Calibri"/>
                          <a:cs typeface="Calibri"/>
                          <a:sym typeface="Calibri"/>
                        </a:rPr>
                        <a:t>multiple</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If set to "multiple" then allows a user to select multiple items from the menu.</a:t>
                      </a:r>
                      <a:endParaRPr sz="1800"/>
                    </a:p>
                  </a:txBody>
                  <a:tcPr marT="76200" marB="76200" marR="76200" marL="76200"/>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nvSpPr>
        <p:spPr>
          <a:xfrm>
            <a:off x="228600" y="914400"/>
            <a:ext cx="8915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Following is the list of important attributes of &lt;option&gt; tag:</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aphicFrame>
        <p:nvGraphicFramePr>
          <p:cNvPr id="167" name="Google Shape;167;p27"/>
          <p:cNvGraphicFramePr/>
          <p:nvPr/>
        </p:nvGraphicFramePr>
        <p:xfrm>
          <a:off x="304799" y="1447799"/>
          <a:ext cx="3000000" cy="3000000"/>
        </p:xfrm>
        <a:graphic>
          <a:graphicData uri="http://schemas.openxmlformats.org/drawingml/2006/table">
            <a:tbl>
              <a:tblPr bandRow="1" firstRow="1">
                <a:noFill/>
                <a:tableStyleId>{25937720-9134-43CC-8340-04EDB98F8AE3}</a:tableStyleId>
              </a:tblPr>
              <a:tblGrid>
                <a:gridCol w="2220275"/>
                <a:gridCol w="6237925"/>
              </a:tblGrid>
              <a:tr h="918375">
                <a:tc>
                  <a:txBody>
                    <a:bodyPr/>
                    <a:lstStyle/>
                    <a:p>
                      <a:pPr indent="0" lvl="0" marL="0" marR="0" rtl="0" algn="ctr">
                        <a:spcBef>
                          <a:spcPts val="0"/>
                        </a:spcBef>
                        <a:spcAft>
                          <a:spcPts val="0"/>
                        </a:spcAft>
                        <a:buNone/>
                      </a:pPr>
                      <a:r>
                        <a:rPr b="1" i="0" lang="en-US" sz="1800">
                          <a:solidFill>
                            <a:schemeClr val="lt1"/>
                          </a:solidFill>
                          <a:latin typeface="Calibri"/>
                          <a:ea typeface="Calibri"/>
                          <a:cs typeface="Calibri"/>
                          <a:sym typeface="Calibri"/>
                        </a:rPr>
                        <a:t>Attribute</a:t>
                      </a:r>
                      <a:endParaRPr sz="1800"/>
                    </a:p>
                  </a:txBody>
                  <a:tcPr marT="45725" marB="45725" marR="91450" marL="91450"/>
                </a:tc>
                <a:tc>
                  <a:txBody>
                    <a:bodyPr/>
                    <a:lstStyle/>
                    <a:p>
                      <a:pPr indent="0" lvl="0" marL="0" marR="0" rtl="0" algn="l">
                        <a:spcBef>
                          <a:spcPts val="0"/>
                        </a:spcBef>
                        <a:spcAft>
                          <a:spcPts val="0"/>
                        </a:spcAft>
                        <a:buNone/>
                      </a:pPr>
                      <a:r>
                        <a:rPr b="1" i="0" lang="en-US" sz="1800">
                          <a:solidFill>
                            <a:schemeClr val="lt1"/>
                          </a:solidFill>
                          <a:latin typeface="Calibri"/>
                          <a:ea typeface="Calibri"/>
                          <a:cs typeface="Calibri"/>
                          <a:sym typeface="Calibri"/>
                        </a:rPr>
                        <a:t>Description</a:t>
                      </a:r>
                      <a:endParaRPr sz="1800"/>
                    </a:p>
                  </a:txBody>
                  <a:tcPr marT="45725" marB="45725" marR="91450" marL="91450"/>
                </a:tc>
              </a:tr>
              <a:tr h="1667425">
                <a:tc>
                  <a:txBody>
                    <a:bodyPr/>
                    <a:lstStyle/>
                    <a:p>
                      <a:pPr indent="0" lvl="0" marL="0" marR="0" rtl="0" algn="ctr">
                        <a:spcBef>
                          <a:spcPts val="0"/>
                        </a:spcBef>
                        <a:spcAft>
                          <a:spcPts val="0"/>
                        </a:spcAft>
                        <a:buNone/>
                      </a:pPr>
                      <a:r>
                        <a:rPr b="0" i="0" lang="en-US" sz="1800">
                          <a:solidFill>
                            <a:schemeClr val="dk1"/>
                          </a:solidFill>
                          <a:latin typeface="Calibri"/>
                          <a:ea typeface="Calibri"/>
                          <a:cs typeface="Calibri"/>
                          <a:sym typeface="Calibri"/>
                        </a:rPr>
                        <a:t>value</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The value that will be used if an option in the select box box is selected.</a:t>
                      </a:r>
                      <a:endParaRPr sz="1800"/>
                    </a:p>
                  </a:txBody>
                  <a:tcPr marT="76200" marB="76200" marR="76200" marL="76200"/>
                </a:tc>
              </a:tr>
              <a:tr h="918375">
                <a:tc>
                  <a:txBody>
                    <a:bodyPr/>
                    <a:lstStyle/>
                    <a:p>
                      <a:pPr indent="0" lvl="0" marL="0" marR="0" rtl="0" algn="ctr">
                        <a:spcBef>
                          <a:spcPts val="0"/>
                        </a:spcBef>
                        <a:spcAft>
                          <a:spcPts val="0"/>
                        </a:spcAft>
                        <a:buNone/>
                      </a:pPr>
                      <a:r>
                        <a:rPr b="0" i="0" lang="en-US" sz="1800">
                          <a:solidFill>
                            <a:schemeClr val="dk1"/>
                          </a:solidFill>
                          <a:latin typeface="Calibri"/>
                          <a:ea typeface="Calibri"/>
                          <a:cs typeface="Calibri"/>
                          <a:sym typeface="Calibri"/>
                        </a:rPr>
                        <a:t>selected</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Specifies that this option should be the initially selected value when the page loads.</a:t>
                      </a:r>
                      <a:endParaRPr sz="1800"/>
                    </a:p>
                  </a:txBody>
                  <a:tcPr marT="45725" marB="45725" marR="91450" marL="91450"/>
                </a:tc>
              </a:tr>
              <a:tr h="1372625">
                <a:tc>
                  <a:txBody>
                    <a:bodyPr/>
                    <a:lstStyle/>
                    <a:p>
                      <a:pPr indent="0" lvl="0" marL="0" marR="0" rtl="0" algn="ctr">
                        <a:spcBef>
                          <a:spcPts val="0"/>
                        </a:spcBef>
                        <a:spcAft>
                          <a:spcPts val="0"/>
                        </a:spcAft>
                        <a:buNone/>
                      </a:pPr>
                      <a:r>
                        <a:rPr b="0" i="0" lang="en-US" sz="1800">
                          <a:solidFill>
                            <a:schemeClr val="dk1"/>
                          </a:solidFill>
                          <a:latin typeface="Calibri"/>
                          <a:ea typeface="Calibri"/>
                          <a:cs typeface="Calibri"/>
                          <a:sym typeface="Calibri"/>
                        </a:rPr>
                        <a:t>label</a:t>
                      </a:r>
                      <a:endParaRPr sz="1800"/>
                    </a:p>
                  </a:txBody>
                  <a:tcPr marT="45725" marB="45725" marR="91450" marL="91450"/>
                </a:tc>
                <a:tc>
                  <a:txBody>
                    <a:bodyPr/>
                    <a:lstStyle/>
                    <a:p>
                      <a:pPr indent="0" lvl="0" marL="0" marR="0" rtl="0" algn="l">
                        <a:spcBef>
                          <a:spcPts val="0"/>
                        </a:spcBef>
                        <a:spcAft>
                          <a:spcPts val="0"/>
                        </a:spcAft>
                        <a:buNone/>
                      </a:pPr>
                      <a:r>
                        <a:rPr b="0" i="0" lang="en-US" sz="1800">
                          <a:solidFill>
                            <a:schemeClr val="dk1"/>
                          </a:solidFill>
                          <a:latin typeface="Calibri"/>
                          <a:ea typeface="Calibri"/>
                          <a:cs typeface="Calibri"/>
                          <a:sym typeface="Calibri"/>
                        </a:rPr>
                        <a:t>An alternative way of labeling options</a:t>
                      </a:r>
                      <a:endParaRPr sz="1800"/>
                    </a:p>
                  </a:txBody>
                  <a:tcPr marT="76200" marB="76200" marR="76200" marL="76200"/>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nvSpPr>
        <p:spPr>
          <a:xfrm>
            <a:off x="228601" y="762000"/>
            <a:ext cx="8610600"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File Upload Box</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If you want to allow a user to upload a file to your web site, you will need to use a file upload box, also known as a file select box. This is also created using the &lt;input&gt; element but type attribute is set to </a:t>
            </a:r>
            <a:r>
              <a:rPr b="1" lang="en-US" sz="1800">
                <a:solidFill>
                  <a:schemeClr val="dk1"/>
                </a:solidFill>
                <a:latin typeface="Calibri"/>
                <a:ea typeface="Calibri"/>
                <a:cs typeface="Calibri"/>
                <a:sym typeface="Calibri"/>
              </a:rPr>
              <a:t>file</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&lt;title&gt;File Upload Box&lt;/title&gt;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&lt;/head&gt;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&lt;input type="file" name="fileupload" accept="image/*" /&gt;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nvSpPr>
        <p:spPr>
          <a:xfrm>
            <a:off x="457200" y="990600"/>
            <a:ext cx="8382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Attributes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Following is the list of important attributes of file upload box:</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78" name="Google Shape;178;p29"/>
          <p:cNvGraphicFramePr/>
          <p:nvPr/>
        </p:nvGraphicFramePr>
        <p:xfrm>
          <a:off x="457200" y="2057400"/>
          <a:ext cx="3000000" cy="3000000"/>
        </p:xfrm>
        <a:graphic>
          <a:graphicData uri="http://schemas.openxmlformats.org/drawingml/2006/table">
            <a:tbl>
              <a:tblPr bandRow="1" firstRow="1">
                <a:noFill/>
                <a:tableStyleId>{25937720-9134-43CC-8340-04EDB98F8AE3}</a:tableStyleId>
              </a:tblPr>
              <a:tblGrid>
                <a:gridCol w="1905000"/>
                <a:gridCol w="6477000"/>
              </a:tblGrid>
              <a:tr h="370850">
                <a:tc>
                  <a:txBody>
                    <a:bodyPr/>
                    <a:lstStyle/>
                    <a:p>
                      <a:pPr indent="0" lvl="0" marL="0" marR="0" rtl="0" algn="l">
                        <a:spcBef>
                          <a:spcPts val="0"/>
                        </a:spcBef>
                        <a:spcAft>
                          <a:spcPts val="0"/>
                        </a:spcAft>
                        <a:buNone/>
                      </a:pPr>
                      <a:r>
                        <a:rPr lang="en-US" sz="1800"/>
                        <a:t>Attribute</a:t>
                      </a:r>
                      <a:endParaRPr/>
                    </a:p>
                  </a:txBody>
                  <a:tcPr marT="76200" marB="76200" marR="76200" marL="76200"/>
                </a:tc>
                <a:tc>
                  <a:txBody>
                    <a:bodyPr/>
                    <a:lstStyle/>
                    <a:p>
                      <a:pPr indent="0" lvl="0" marL="0" marR="0" rtl="0" algn="l">
                        <a:spcBef>
                          <a:spcPts val="0"/>
                        </a:spcBef>
                        <a:spcAft>
                          <a:spcPts val="0"/>
                        </a:spcAft>
                        <a:buNone/>
                      </a:pPr>
                      <a:r>
                        <a:rPr lang="en-US" sz="1800"/>
                        <a:t>Description</a:t>
                      </a:r>
                      <a:endParaRPr/>
                    </a:p>
                  </a:txBody>
                  <a:tcPr marT="76200" marB="76200" marR="76200" marL="76200"/>
                </a:tc>
              </a:tr>
              <a:tr h="370850">
                <a:tc>
                  <a:txBody>
                    <a:bodyPr/>
                    <a:lstStyle/>
                    <a:p>
                      <a:pPr indent="0" lvl="0" marL="0" marR="0" rtl="0" algn="l">
                        <a:spcBef>
                          <a:spcPts val="0"/>
                        </a:spcBef>
                        <a:spcAft>
                          <a:spcPts val="0"/>
                        </a:spcAft>
                        <a:buNone/>
                      </a:pPr>
                      <a:r>
                        <a:rPr lang="en-US" sz="1800"/>
                        <a:t>name</a:t>
                      </a:r>
                      <a:endParaRPr/>
                    </a:p>
                  </a:txBody>
                  <a:tcPr marT="76200" marB="76200" marR="76200" marL="76200"/>
                </a:tc>
                <a:tc>
                  <a:txBody>
                    <a:bodyPr/>
                    <a:lstStyle/>
                    <a:p>
                      <a:pPr indent="0" lvl="0" marL="0" marR="0" rtl="0" algn="l">
                        <a:spcBef>
                          <a:spcPts val="0"/>
                        </a:spcBef>
                        <a:spcAft>
                          <a:spcPts val="0"/>
                        </a:spcAft>
                        <a:buNone/>
                      </a:pPr>
                      <a:r>
                        <a:rPr lang="en-US" sz="1800"/>
                        <a:t>Used to give a name to the control which is sent to the server to be recognized and get the value.</a:t>
                      </a:r>
                      <a:endParaRPr/>
                    </a:p>
                  </a:txBody>
                  <a:tcPr marT="76200" marB="76200" marR="76200" marL="76200"/>
                </a:tc>
              </a:tr>
              <a:tr h="370850">
                <a:tc>
                  <a:txBody>
                    <a:bodyPr/>
                    <a:lstStyle/>
                    <a:p>
                      <a:pPr indent="0" lvl="0" marL="0" marR="0" rtl="0" algn="l">
                        <a:spcBef>
                          <a:spcPts val="0"/>
                        </a:spcBef>
                        <a:spcAft>
                          <a:spcPts val="0"/>
                        </a:spcAft>
                        <a:buNone/>
                      </a:pPr>
                      <a:r>
                        <a:rPr lang="en-US" sz="1800"/>
                        <a:t>accept</a:t>
                      </a:r>
                      <a:endParaRPr/>
                    </a:p>
                  </a:txBody>
                  <a:tcPr marT="76200" marB="76200" marR="76200" marL="76200"/>
                </a:tc>
                <a:tc>
                  <a:txBody>
                    <a:bodyPr/>
                    <a:lstStyle/>
                    <a:p>
                      <a:pPr indent="0" lvl="0" marL="0" marR="0" rtl="0" algn="l">
                        <a:spcBef>
                          <a:spcPts val="0"/>
                        </a:spcBef>
                        <a:spcAft>
                          <a:spcPts val="0"/>
                        </a:spcAft>
                        <a:buNone/>
                      </a:pPr>
                      <a:r>
                        <a:rPr lang="en-US" sz="1800"/>
                        <a:t>Specifies the types of files that the server accepts.</a:t>
                      </a:r>
                      <a:endParaRPr/>
                    </a:p>
                  </a:txBody>
                  <a:tcPr marT="76200" marB="76200" marR="76200" marL="7620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nvSpPr>
        <p:spPr>
          <a:xfrm>
            <a:off x="228601" y="990600"/>
            <a:ext cx="86868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Button Controls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There are various ways in HTML to create clickable buttons. You can also create a clickable button using &lt;input&gt; tag by setting its type attribute to </a:t>
            </a:r>
            <a:r>
              <a:rPr b="1" lang="en-US" sz="1800">
                <a:solidFill>
                  <a:schemeClr val="dk1"/>
                </a:solidFill>
                <a:latin typeface="Calibri"/>
                <a:ea typeface="Calibri"/>
                <a:cs typeface="Calibri"/>
                <a:sym typeface="Calibri"/>
              </a:rPr>
              <a:t>button</a:t>
            </a:r>
            <a:r>
              <a:rPr lang="en-US" sz="1800">
                <a:solidFill>
                  <a:schemeClr val="dk1"/>
                </a:solidFill>
                <a:latin typeface="Calibri"/>
                <a:ea typeface="Calibri"/>
                <a:cs typeface="Calibri"/>
                <a:sym typeface="Calibri"/>
              </a:rPr>
              <a:t>. The type attribute can take the following values: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aphicFrame>
        <p:nvGraphicFramePr>
          <p:cNvPr id="184" name="Google Shape;184;p30"/>
          <p:cNvGraphicFramePr/>
          <p:nvPr/>
        </p:nvGraphicFramePr>
        <p:xfrm>
          <a:off x="228600" y="914400"/>
          <a:ext cx="3000000" cy="3000000"/>
        </p:xfrm>
        <a:graphic>
          <a:graphicData uri="http://schemas.openxmlformats.org/drawingml/2006/table">
            <a:tbl>
              <a:tblPr bandRow="1" firstRow="1">
                <a:noFill/>
                <a:tableStyleId>{25937720-9134-43CC-8340-04EDB98F8AE3}</a:tableStyleId>
              </a:tblPr>
              <a:tblGrid>
                <a:gridCol w="2220275"/>
                <a:gridCol w="6237925"/>
              </a:tblGrid>
              <a:tr h="918375">
                <a:tc>
                  <a:txBody>
                    <a:bodyPr/>
                    <a:lstStyle/>
                    <a:p>
                      <a:pPr indent="0" lvl="0" marL="0" marR="0" rtl="0" algn="ctr">
                        <a:spcBef>
                          <a:spcPts val="0"/>
                        </a:spcBef>
                        <a:spcAft>
                          <a:spcPts val="0"/>
                        </a:spcAft>
                        <a:buNone/>
                      </a:pPr>
                      <a:r>
                        <a:rPr b="1" i="0" lang="en-US" sz="1800">
                          <a:solidFill>
                            <a:schemeClr val="lt1"/>
                          </a:solidFill>
                          <a:latin typeface="Calibri"/>
                          <a:ea typeface="Calibri"/>
                          <a:cs typeface="Calibri"/>
                          <a:sym typeface="Calibri"/>
                        </a:rPr>
                        <a:t>Attribute</a:t>
                      </a:r>
                      <a:endParaRPr sz="1800"/>
                    </a:p>
                  </a:txBody>
                  <a:tcPr marT="45725" marB="45725" marR="91450" marL="91450"/>
                </a:tc>
                <a:tc>
                  <a:txBody>
                    <a:bodyPr/>
                    <a:lstStyle/>
                    <a:p>
                      <a:pPr indent="0" lvl="0" marL="0" marR="0" rtl="0" algn="l">
                        <a:spcBef>
                          <a:spcPts val="0"/>
                        </a:spcBef>
                        <a:spcAft>
                          <a:spcPts val="0"/>
                        </a:spcAft>
                        <a:buNone/>
                      </a:pPr>
                      <a:r>
                        <a:rPr b="1" i="0" lang="en-US" sz="1800">
                          <a:solidFill>
                            <a:schemeClr val="lt1"/>
                          </a:solidFill>
                          <a:latin typeface="Calibri"/>
                          <a:ea typeface="Calibri"/>
                          <a:cs typeface="Calibri"/>
                          <a:sym typeface="Calibri"/>
                        </a:rPr>
                        <a:t>Description</a:t>
                      </a:r>
                      <a:endParaRPr sz="1800"/>
                    </a:p>
                  </a:txBody>
                  <a:tcPr marT="45725" marB="45725" marR="91450" marL="91450"/>
                </a:tc>
              </a:tr>
              <a:tr h="910425">
                <a:tc>
                  <a:txBody>
                    <a:bodyPr/>
                    <a:lstStyle/>
                    <a:p>
                      <a:pPr indent="0" lvl="0" marL="0" marR="0" rtl="0" algn="l">
                        <a:spcBef>
                          <a:spcPts val="0"/>
                        </a:spcBef>
                        <a:spcAft>
                          <a:spcPts val="0"/>
                        </a:spcAft>
                        <a:buNone/>
                      </a:pPr>
                      <a:r>
                        <a:rPr lang="en-US" sz="1800"/>
                        <a:t>submit</a:t>
                      </a:r>
                      <a:endParaRPr/>
                    </a:p>
                  </a:txBody>
                  <a:tcPr marT="76200" marB="76200" marR="76200" marL="76200"/>
                </a:tc>
                <a:tc>
                  <a:txBody>
                    <a:bodyPr/>
                    <a:lstStyle/>
                    <a:p>
                      <a:pPr indent="0" lvl="0" marL="0" marR="0" rtl="0" algn="l">
                        <a:spcBef>
                          <a:spcPts val="0"/>
                        </a:spcBef>
                        <a:spcAft>
                          <a:spcPts val="0"/>
                        </a:spcAft>
                        <a:buNone/>
                      </a:pPr>
                      <a:r>
                        <a:rPr lang="en-US" sz="1800"/>
                        <a:t>This creates a button that automatically submits a form.</a:t>
                      </a:r>
                      <a:endParaRPr/>
                    </a:p>
                  </a:txBody>
                  <a:tcPr marT="76200" marB="76200" marR="76200" marL="76200"/>
                </a:tc>
              </a:tr>
              <a:tr h="918375">
                <a:tc>
                  <a:txBody>
                    <a:bodyPr/>
                    <a:lstStyle/>
                    <a:p>
                      <a:pPr indent="0" lvl="0" marL="0" marR="0" rtl="0" algn="l">
                        <a:spcBef>
                          <a:spcPts val="0"/>
                        </a:spcBef>
                        <a:spcAft>
                          <a:spcPts val="0"/>
                        </a:spcAft>
                        <a:buNone/>
                      </a:pPr>
                      <a:r>
                        <a:rPr lang="en-US" sz="1800"/>
                        <a:t>reset</a:t>
                      </a:r>
                      <a:endParaRPr/>
                    </a:p>
                  </a:txBody>
                  <a:tcPr marT="76200" marB="76200" marR="76200" marL="76200"/>
                </a:tc>
                <a:tc>
                  <a:txBody>
                    <a:bodyPr/>
                    <a:lstStyle/>
                    <a:p>
                      <a:pPr indent="0" lvl="0" marL="0" marR="0" rtl="0" algn="l">
                        <a:spcBef>
                          <a:spcPts val="0"/>
                        </a:spcBef>
                        <a:spcAft>
                          <a:spcPts val="0"/>
                        </a:spcAft>
                        <a:buNone/>
                      </a:pPr>
                      <a:r>
                        <a:rPr lang="en-US" sz="1800"/>
                        <a:t>This creates a button that automatically resets form controls to their initial values.</a:t>
                      </a:r>
                      <a:endParaRPr/>
                    </a:p>
                  </a:txBody>
                  <a:tcPr marT="76200" marB="76200" marR="76200" marL="76200"/>
                </a:tc>
              </a:tr>
              <a:tr h="834225">
                <a:tc>
                  <a:txBody>
                    <a:bodyPr/>
                    <a:lstStyle/>
                    <a:p>
                      <a:pPr indent="0" lvl="0" marL="0" marR="0" rtl="0" algn="l">
                        <a:spcBef>
                          <a:spcPts val="0"/>
                        </a:spcBef>
                        <a:spcAft>
                          <a:spcPts val="0"/>
                        </a:spcAft>
                        <a:buNone/>
                      </a:pPr>
                      <a:r>
                        <a:rPr lang="en-US" sz="1800"/>
                        <a:t>button</a:t>
                      </a:r>
                      <a:endParaRPr/>
                    </a:p>
                  </a:txBody>
                  <a:tcPr marT="76200" marB="76200" marR="76200" marL="76200"/>
                </a:tc>
                <a:tc>
                  <a:txBody>
                    <a:bodyPr/>
                    <a:lstStyle/>
                    <a:p>
                      <a:pPr indent="0" lvl="0" marL="0" marR="0" rtl="0" algn="l">
                        <a:spcBef>
                          <a:spcPts val="0"/>
                        </a:spcBef>
                        <a:spcAft>
                          <a:spcPts val="0"/>
                        </a:spcAft>
                        <a:buNone/>
                      </a:pPr>
                      <a:r>
                        <a:rPr lang="en-US" sz="1800"/>
                        <a:t>This creates a button that is used to trigger a client-side script when the user clicks that button.</a:t>
                      </a:r>
                      <a:endParaRPr/>
                    </a:p>
                  </a:txBody>
                  <a:tcPr marT="76200" marB="76200" marR="76200" marL="76200"/>
                </a:tc>
              </a:tr>
              <a:tr h="1372625">
                <a:tc>
                  <a:txBody>
                    <a:bodyPr/>
                    <a:lstStyle/>
                    <a:p>
                      <a:pPr indent="0" lvl="0" marL="0" marR="0" rtl="0" algn="l">
                        <a:spcBef>
                          <a:spcPts val="0"/>
                        </a:spcBef>
                        <a:spcAft>
                          <a:spcPts val="0"/>
                        </a:spcAft>
                        <a:buNone/>
                      </a:pPr>
                      <a:r>
                        <a:rPr lang="en-US" sz="1800"/>
                        <a:t>image</a:t>
                      </a:r>
                      <a:endParaRPr/>
                    </a:p>
                  </a:txBody>
                  <a:tcPr marT="76200" marB="76200" marR="76200" marL="76200"/>
                </a:tc>
                <a:tc>
                  <a:txBody>
                    <a:bodyPr/>
                    <a:lstStyle/>
                    <a:p>
                      <a:pPr indent="0" lvl="0" marL="0" marR="0" rtl="0" algn="l">
                        <a:spcBef>
                          <a:spcPts val="0"/>
                        </a:spcBef>
                        <a:spcAft>
                          <a:spcPts val="0"/>
                        </a:spcAft>
                        <a:buNone/>
                      </a:pPr>
                      <a:r>
                        <a:rPr lang="en-US" sz="1800"/>
                        <a:t>This creates a clickable button but we can use an image as background of the button.</a:t>
                      </a:r>
                      <a:endParaRPr/>
                    </a:p>
                  </a:txBody>
                  <a:tcPr marT="76200" marB="76200" marR="76200" marL="7620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nvSpPr>
        <p:spPr>
          <a:xfrm>
            <a:off x="228601" y="885885"/>
            <a:ext cx="868680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Example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&lt;!DOCTYPE html&gt;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&lt;html&gt;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&lt;title&gt;File Upload Box&lt;/title&gt;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&lt;/head&gt;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&lt;form&gt;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&lt;input type="submit" name="submit" value="Submit" /&gt;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&lt;input type="reset" name="reset" value="Reset" /&gt;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&lt;input type="button" name="ok" value="OK" /&gt;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&lt;input type="image" name="imagebutton" src=“a.png" /&gt;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&lt;/form&gt;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&lt;/body&gt;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&lt;/html&gt;</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